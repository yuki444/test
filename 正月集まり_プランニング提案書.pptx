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375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257800"/>
            <a:ext cx="12188952" cy="73152"/>
          </a:xfrm>
          <a:prstGeom prst="rect">
            <a:avLst/>
          </a:prstGeom>
          <a:solidFill>
            <a:srgbClr val="C89B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394960"/>
            <a:ext cx="12188952" cy="1463040"/>
          </a:xfrm>
          <a:prstGeom prst="rect">
            <a:avLst/>
          </a:prstGeom>
          <a:solidFill>
            <a:srgbClr val="1022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188720"/>
            <a:ext cx="10360152" cy="1005840"/>
          </a:xfrm>
          <a:prstGeom prst="rect">
            <a:avLst/>
          </a:prstGeom>
          <a:noFill/>
        </p:spPr>
        <p:txBody>
          <a:bodyPr wrap="square" tIns="0" bIns="0" lIns="25400" rIns="25400">
            <a:spAutoFit/>
          </a:bodyPr>
          <a:lstStyle/>
          <a:p>
            <a:pPr algn="ctr"/>
            <a:r>
              <a:rPr sz="5000" b="1" i="0">
                <a:solidFill>
                  <a:srgbClr val="FFFFFF"/>
                </a:solidFill>
              </a:rPr>
              <a:t>正月 親族集まり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194560"/>
            <a:ext cx="10360152" cy="822960"/>
          </a:xfrm>
          <a:prstGeom prst="rect">
            <a:avLst/>
          </a:prstGeom>
          <a:noFill/>
        </p:spPr>
        <p:txBody>
          <a:bodyPr wrap="square" tIns="0" bIns="0" lIns="25400" rIns="25400">
            <a:spAutoFit/>
          </a:bodyPr>
          <a:lstStyle/>
          <a:p>
            <a:pPr algn="ctr"/>
            <a:r>
              <a:rPr sz="3400" b="1" i="0">
                <a:solidFill>
                  <a:srgbClr val="C89B3C"/>
                </a:solidFill>
              </a:rPr>
              <a:t>プランニング提案書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108960"/>
            <a:ext cx="10360152" cy="475488"/>
          </a:xfrm>
          <a:prstGeom prst="rect">
            <a:avLst/>
          </a:prstGeom>
          <a:noFill/>
        </p:spPr>
        <p:txBody>
          <a:bodyPr wrap="square" tIns="0" bIns="0" lIns="25400" rIns="25400">
            <a:spAutoFit/>
          </a:bodyPr>
          <a:lstStyle/>
          <a:p>
            <a:pPr algn="ctr"/>
            <a:r>
              <a:rPr sz="1700" b="0" i="0">
                <a:solidFill>
                  <a:srgbClr val="FFFFFF"/>
                </a:solidFill>
              </a:rPr>
              <a:t>2027年 1月3日（日）｜加古川・明石エリア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566160"/>
            <a:ext cx="10360152" cy="438912"/>
          </a:xfrm>
          <a:prstGeom prst="rect">
            <a:avLst/>
          </a:prstGeom>
          <a:noFill/>
        </p:spPr>
        <p:txBody>
          <a:bodyPr wrap="square" tIns="0" bIns="0" lIns="25400" rIns="25400">
            <a:spAutoFit/>
          </a:bodyPr>
          <a:lstStyle/>
          <a:p>
            <a:pPr algn="ctr"/>
            <a:r>
              <a:rPr sz="1500" b="0" i="0">
                <a:solidFill>
                  <a:srgbClr val="AACCEE"/>
                </a:solidFill>
              </a:rPr>
              <a:t>大人 10名 ＋ 子供 4名　計 14名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6400800"/>
            <a:ext cx="10360152" cy="329184"/>
          </a:xfrm>
          <a:prstGeom prst="rect">
            <a:avLst/>
          </a:prstGeom>
          <a:noFill/>
        </p:spPr>
        <p:txBody>
          <a:bodyPr wrap="square" tIns="0" bIns="0" lIns="25400" rIns="25400">
            <a:spAutoFit/>
          </a:bodyPr>
          <a:lstStyle/>
          <a:p>
            <a:pPr algn="ctr"/>
            <a:r>
              <a:rPr sz="1000" b="0" i="0">
                <a:solidFill>
                  <a:srgbClr val="6C757D"/>
                </a:solidFill>
              </a:rPr>
              <a:t>Family Planning Document  —  Confidential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A37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88952" cy="64008"/>
          </a:xfrm>
          <a:prstGeom prst="rect">
            <a:avLst/>
          </a:prstGeom>
          <a:solidFill>
            <a:srgbClr val="C89B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91440"/>
            <a:ext cx="11430000" cy="566928"/>
          </a:xfrm>
          <a:prstGeom prst="rect">
            <a:avLst/>
          </a:prstGeom>
          <a:noFill/>
        </p:spPr>
        <p:txBody>
          <a:bodyPr wrap="square" tIns="0" bIns="0" lIns="25400" rIns="25400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基本条件・前提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21792"/>
            <a:ext cx="11430000" cy="329184"/>
          </a:xfrm>
          <a:prstGeom prst="rect">
            <a:avLst/>
          </a:prstGeom>
          <a:noFill/>
        </p:spPr>
        <p:txBody>
          <a:bodyPr wrap="square" tIns="0" bIns="0" lIns="25400" rIns="25400">
            <a:spAutoFit/>
          </a:bodyPr>
          <a:lstStyle/>
          <a:p>
            <a:pPr algn="l"/>
            <a:r>
              <a:rPr sz="1100" b="0" i="0">
                <a:solidFill>
                  <a:srgbClr val="C89B3C"/>
                </a:solidFill>
              </a:rPr>
              <a:t>Planning Conditions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228600" y="1170432"/>
            <a:ext cx="3749039" cy="1828800"/>
          </a:xfrm>
          <a:prstGeom prst="rect">
            <a:avLst/>
          </a:prstGeom>
          <a:solidFill>
            <a:srgbClr val="FFFFFF"/>
          </a:solidFill>
          <a:ln w="19050">
            <a:solidFill>
              <a:srgbClr val="C89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56616" y="1261872"/>
            <a:ext cx="3493007" cy="384048"/>
          </a:xfrm>
          <a:prstGeom prst="rect">
            <a:avLst/>
          </a:prstGeom>
          <a:noFill/>
        </p:spPr>
        <p:txBody>
          <a:bodyPr wrap="square" tIns="0" bIns="0" lIns="25400" rIns="25400">
            <a:spAutoFit/>
          </a:bodyPr>
          <a:lstStyle/>
          <a:p>
            <a:pPr algn="l"/>
            <a:r>
              <a:rPr sz="1300" b="1" i="0">
                <a:solidFill>
                  <a:srgbClr val="1A375E"/>
                </a:solidFill>
              </a:rPr>
              <a:t>📅  日程</a:t>
            </a:r>
          </a:p>
        </p:txBody>
      </p:sp>
      <p:sp>
        <p:nvSpPr>
          <p:cNvPr id="8" name="Rectangle 7"/>
          <p:cNvSpPr/>
          <p:nvPr/>
        </p:nvSpPr>
        <p:spPr>
          <a:xfrm>
            <a:off x="228600" y="1645920"/>
            <a:ext cx="3749039" cy="36576"/>
          </a:xfrm>
          <a:prstGeom prst="rect">
            <a:avLst/>
          </a:prstGeom>
          <a:solidFill>
            <a:srgbClr val="C89B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6616" y="1737360"/>
            <a:ext cx="3493007" cy="1170432"/>
          </a:xfrm>
          <a:prstGeom prst="rect">
            <a:avLst/>
          </a:prstGeom>
          <a:noFill/>
        </p:spPr>
        <p:txBody>
          <a:bodyPr wrap="square" tIns="0" bIns="0" lIns="25400" rIns="25400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2027年1月3日（仮）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96512" y="1170432"/>
            <a:ext cx="3749039" cy="1828800"/>
          </a:xfrm>
          <a:prstGeom prst="rect">
            <a:avLst/>
          </a:prstGeom>
          <a:solidFill>
            <a:srgbClr val="FFFFFF"/>
          </a:solidFill>
          <a:ln w="19050">
            <a:solidFill>
              <a:srgbClr val="C89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24528" y="1261872"/>
            <a:ext cx="3493007" cy="384048"/>
          </a:xfrm>
          <a:prstGeom prst="rect">
            <a:avLst/>
          </a:prstGeom>
          <a:noFill/>
        </p:spPr>
        <p:txBody>
          <a:bodyPr wrap="square" tIns="0" bIns="0" lIns="25400" rIns="25400">
            <a:spAutoFit/>
          </a:bodyPr>
          <a:lstStyle/>
          <a:p>
            <a:pPr algn="l"/>
            <a:r>
              <a:rPr sz="1300" b="1" i="0">
                <a:solidFill>
                  <a:srgbClr val="1A375E"/>
                </a:solidFill>
              </a:rPr>
              <a:t>👥  人数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096512" y="1645920"/>
            <a:ext cx="3749039" cy="36576"/>
          </a:xfrm>
          <a:prstGeom prst="rect">
            <a:avLst/>
          </a:prstGeom>
          <a:solidFill>
            <a:srgbClr val="C89B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24528" y="1737360"/>
            <a:ext cx="3493007" cy="1170432"/>
          </a:xfrm>
          <a:prstGeom prst="rect">
            <a:avLst/>
          </a:prstGeom>
          <a:noFill/>
        </p:spPr>
        <p:txBody>
          <a:bodyPr wrap="square" tIns="0" bIns="0" lIns="25400" rIns="25400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大人10名・子供4名
計 14名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964424" y="1170432"/>
            <a:ext cx="3749039" cy="1828800"/>
          </a:xfrm>
          <a:prstGeom prst="rect">
            <a:avLst/>
          </a:prstGeom>
          <a:solidFill>
            <a:srgbClr val="FFFFFF"/>
          </a:solidFill>
          <a:ln w="19050">
            <a:solidFill>
              <a:srgbClr val="C89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92440" y="1261872"/>
            <a:ext cx="3493007" cy="384048"/>
          </a:xfrm>
          <a:prstGeom prst="rect">
            <a:avLst/>
          </a:prstGeom>
          <a:noFill/>
        </p:spPr>
        <p:txBody>
          <a:bodyPr wrap="square" tIns="0" bIns="0" lIns="25400" rIns="25400">
            <a:spAutoFit/>
          </a:bodyPr>
          <a:lstStyle/>
          <a:p>
            <a:pPr algn="l"/>
            <a:r>
              <a:rPr sz="1300" b="1" i="0">
                <a:solidFill>
                  <a:srgbClr val="1A375E"/>
                </a:solidFill>
              </a:rPr>
              <a:t>📍  エリア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964424" y="1645920"/>
            <a:ext cx="3749039" cy="36576"/>
          </a:xfrm>
          <a:prstGeom prst="rect">
            <a:avLst/>
          </a:prstGeom>
          <a:solidFill>
            <a:srgbClr val="C89B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92440" y="1737360"/>
            <a:ext cx="3493007" cy="1170432"/>
          </a:xfrm>
          <a:prstGeom prst="rect">
            <a:avLst/>
          </a:prstGeom>
          <a:noFill/>
        </p:spPr>
        <p:txBody>
          <a:bodyPr wrap="square" tIns="0" bIns="0" lIns="25400" rIns="25400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兵庫県 加古川・明石周辺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28600" y="3127248"/>
            <a:ext cx="3749039" cy="1828800"/>
          </a:xfrm>
          <a:prstGeom prst="rect">
            <a:avLst/>
          </a:prstGeom>
          <a:solidFill>
            <a:srgbClr val="FFFFFF"/>
          </a:solidFill>
          <a:ln w="19050">
            <a:solidFill>
              <a:srgbClr val="C89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6616" y="3218688"/>
            <a:ext cx="3493007" cy="384048"/>
          </a:xfrm>
          <a:prstGeom prst="rect">
            <a:avLst/>
          </a:prstGeom>
          <a:noFill/>
        </p:spPr>
        <p:txBody>
          <a:bodyPr wrap="square" tIns="0" bIns="0" lIns="25400" rIns="25400">
            <a:spAutoFit/>
          </a:bodyPr>
          <a:lstStyle/>
          <a:p>
            <a:pPr algn="l"/>
            <a:r>
              <a:rPr sz="1300" b="1" i="0">
                <a:solidFill>
                  <a:srgbClr val="1A375E"/>
                </a:solidFill>
              </a:rPr>
              <a:t>🏠  会場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28600" y="3602736"/>
            <a:ext cx="3749039" cy="36576"/>
          </a:xfrm>
          <a:prstGeom prst="rect">
            <a:avLst/>
          </a:prstGeom>
          <a:solidFill>
            <a:srgbClr val="C89B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6616" y="3694176"/>
            <a:ext cx="3493007" cy="1170432"/>
          </a:xfrm>
          <a:prstGeom prst="rect">
            <a:avLst/>
          </a:prstGeom>
          <a:noFill/>
        </p:spPr>
        <p:txBody>
          <a:bodyPr wrap="square" tIns="0" bIns="0" lIns="25400" rIns="25400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自前の場所なし
会場は別途確保が必要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96512" y="3127248"/>
            <a:ext cx="3749039" cy="1828800"/>
          </a:xfrm>
          <a:prstGeom prst="rect">
            <a:avLst/>
          </a:prstGeom>
          <a:solidFill>
            <a:srgbClr val="FFFFFF"/>
          </a:solidFill>
          <a:ln w="19050">
            <a:solidFill>
              <a:srgbClr val="C89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224528" y="3218688"/>
            <a:ext cx="3493007" cy="384048"/>
          </a:xfrm>
          <a:prstGeom prst="rect">
            <a:avLst/>
          </a:prstGeom>
          <a:noFill/>
        </p:spPr>
        <p:txBody>
          <a:bodyPr wrap="square" tIns="0" bIns="0" lIns="25400" rIns="25400">
            <a:spAutoFit/>
          </a:bodyPr>
          <a:lstStyle/>
          <a:p>
            <a:pPr algn="l"/>
            <a:r>
              <a:rPr sz="1300" b="1" i="0">
                <a:solidFill>
                  <a:srgbClr val="1A375E"/>
                </a:solidFill>
              </a:rPr>
              <a:t>🎵  やりたいこと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096512" y="3602736"/>
            <a:ext cx="3749039" cy="36576"/>
          </a:xfrm>
          <a:prstGeom prst="rect">
            <a:avLst/>
          </a:prstGeom>
          <a:solidFill>
            <a:srgbClr val="C89B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224528" y="3694176"/>
            <a:ext cx="3493007" cy="1170432"/>
          </a:xfrm>
          <a:prstGeom prst="rect">
            <a:avLst/>
          </a:prstGeom>
          <a:noFill/>
        </p:spPr>
        <p:txBody>
          <a:bodyPr wrap="square" tIns="0" bIns="0" lIns="25400" rIns="25400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カラオケ・トランプ等
食事だけでなく遊びも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964424" y="3127248"/>
            <a:ext cx="3749039" cy="1828800"/>
          </a:xfrm>
          <a:prstGeom prst="rect">
            <a:avLst/>
          </a:prstGeom>
          <a:solidFill>
            <a:srgbClr val="FFFFFF"/>
          </a:solidFill>
          <a:ln w="19050">
            <a:solidFill>
              <a:srgbClr val="C89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92440" y="3218688"/>
            <a:ext cx="3493007" cy="384048"/>
          </a:xfrm>
          <a:prstGeom prst="rect">
            <a:avLst/>
          </a:prstGeom>
          <a:noFill/>
        </p:spPr>
        <p:txBody>
          <a:bodyPr wrap="square" tIns="0" bIns="0" lIns="25400" rIns="25400">
            <a:spAutoFit/>
          </a:bodyPr>
          <a:lstStyle/>
          <a:p>
            <a:pPr algn="l"/>
            <a:r>
              <a:rPr sz="1300" b="1" i="0">
                <a:solidFill>
                  <a:srgbClr val="1A375E"/>
                </a:solidFill>
              </a:rPr>
              <a:t>🚶  身体条件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964424" y="3602736"/>
            <a:ext cx="3749039" cy="36576"/>
          </a:xfrm>
          <a:prstGeom prst="rect">
            <a:avLst/>
          </a:prstGeom>
          <a:solidFill>
            <a:srgbClr val="C89B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092440" y="3694176"/>
            <a:ext cx="3493007" cy="1170432"/>
          </a:xfrm>
          <a:prstGeom prst="rect">
            <a:avLst/>
          </a:prstGeom>
          <a:noFill/>
        </p:spPr>
        <p:txBody>
          <a:bodyPr wrap="square" tIns="0" bIns="0" lIns="25400" rIns="25400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足が悪いメンバーなし
移動・階段等 問題なし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A37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88952" cy="64008"/>
          </a:xfrm>
          <a:prstGeom prst="rect">
            <a:avLst/>
          </a:prstGeom>
          <a:solidFill>
            <a:srgbClr val="C89B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91440"/>
            <a:ext cx="11430000" cy="566928"/>
          </a:xfrm>
          <a:prstGeom prst="rect">
            <a:avLst/>
          </a:prstGeom>
          <a:noFill/>
        </p:spPr>
        <p:txBody>
          <a:bodyPr wrap="square" tIns="0" bIns="0" lIns="25400" rIns="25400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プランA　レンタルスペース ＋ テイクアウト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21792"/>
            <a:ext cx="11430000" cy="329184"/>
          </a:xfrm>
          <a:prstGeom prst="rect">
            <a:avLst/>
          </a:prstGeom>
          <a:noFill/>
        </p:spPr>
        <p:txBody>
          <a:bodyPr wrap="square" tIns="0" bIns="0" lIns="25400" rIns="25400">
            <a:spAutoFit/>
          </a:bodyPr>
          <a:lstStyle/>
          <a:p>
            <a:pPr algn="l"/>
            <a:r>
              <a:rPr sz="1100" b="0" i="0">
                <a:solidFill>
                  <a:srgbClr val="C89B3C"/>
                </a:solidFill>
              </a:rPr>
              <a:t>Plan A – Rental Space + Takeout</a:t>
            </a:r>
          </a:p>
        </p:txBody>
      </p:sp>
      <p:sp>
        <p:nvSpPr>
          <p:cNvPr id="6" name="Rectangle 5"/>
          <p:cNvSpPr/>
          <p:nvPr/>
        </p:nvSpPr>
        <p:spPr>
          <a:xfrm>
            <a:off x="228600" y="1170432"/>
            <a:ext cx="3749039" cy="5486400"/>
          </a:xfrm>
          <a:prstGeom prst="rect">
            <a:avLst/>
          </a:prstGeom>
          <a:solidFill>
            <a:srgbClr val="FFFFFF"/>
          </a:solidFill>
          <a:ln w="12700">
            <a:solidFill>
              <a:srgbClr val="216B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56616" y="1261872"/>
            <a:ext cx="3493007" cy="365760"/>
          </a:xfrm>
          <a:prstGeom prst="rect">
            <a:avLst/>
          </a:prstGeom>
          <a:noFill/>
        </p:spPr>
        <p:txBody>
          <a:bodyPr wrap="square" tIns="0" bIns="0" lIns="25400" rIns="25400">
            <a:spAutoFit/>
          </a:bodyPr>
          <a:lstStyle/>
          <a:p>
            <a:pPr algn="l"/>
            <a:r>
              <a:rPr sz="1300" b="1" i="0">
                <a:solidFill>
                  <a:srgbClr val="216BAE"/>
                </a:solidFill>
              </a:rPr>
              <a:t>プランAの特徴</a:t>
            </a:r>
          </a:p>
        </p:txBody>
      </p:sp>
      <p:sp>
        <p:nvSpPr>
          <p:cNvPr id="8" name="Rectangle 7"/>
          <p:cNvSpPr/>
          <p:nvPr/>
        </p:nvSpPr>
        <p:spPr>
          <a:xfrm>
            <a:off x="228600" y="1627632"/>
            <a:ext cx="3749039" cy="36576"/>
          </a:xfrm>
          <a:prstGeom prst="rect">
            <a:avLst/>
          </a:prstGeom>
          <a:solidFill>
            <a:srgbClr val="216B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6616" y="1764792"/>
            <a:ext cx="3493007" cy="475488"/>
          </a:xfrm>
          <a:prstGeom prst="rect">
            <a:avLst/>
          </a:prstGeom>
          <a:noFill/>
        </p:spPr>
        <p:txBody>
          <a:bodyPr wrap="square" tIns="0" bIns="0" lIns="25400" rIns="25400">
            <a:spAutoFit/>
          </a:bodyPr>
          <a:lstStyle/>
          <a:p>
            <a:pPr algn="l"/>
            <a:r>
              <a:rPr sz="1100" b="0" i="0">
                <a:solidFill>
                  <a:srgbClr val="277D52"/>
                </a:solidFill>
              </a:rPr>
              <a:t>◎  コストが最も安い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6616" y="2340864"/>
            <a:ext cx="3493007" cy="475488"/>
          </a:xfrm>
          <a:prstGeom prst="rect">
            <a:avLst/>
          </a:prstGeom>
          <a:noFill/>
        </p:spPr>
        <p:txBody>
          <a:bodyPr wrap="square" tIns="0" bIns="0" lIns="25400" rIns="25400">
            <a:spAutoFit/>
          </a:bodyPr>
          <a:lstStyle/>
          <a:p>
            <a:pPr algn="l"/>
            <a:r>
              <a:rPr sz="1100" b="0" i="0">
                <a:solidFill>
                  <a:srgbClr val="277D52"/>
                </a:solidFill>
              </a:rPr>
              <a:t>◎  時間を自由に使える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6616" y="2916936"/>
            <a:ext cx="3493007" cy="475488"/>
          </a:xfrm>
          <a:prstGeom prst="rect">
            <a:avLst/>
          </a:prstGeom>
          <a:noFill/>
        </p:spPr>
        <p:txBody>
          <a:bodyPr wrap="square" tIns="0" bIns="0" lIns="25400" rIns="25400">
            <a:spAutoFit/>
          </a:bodyPr>
          <a:lstStyle/>
          <a:p>
            <a:pPr algn="l"/>
            <a:r>
              <a:rPr sz="1100" b="0" i="0">
                <a:solidFill>
                  <a:srgbClr val="277D52"/>
                </a:solidFill>
              </a:rPr>
              <a:t>◎  トランプ・ゲームOK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6616" y="3493008"/>
            <a:ext cx="3493007" cy="475488"/>
          </a:xfrm>
          <a:prstGeom prst="rect">
            <a:avLst/>
          </a:prstGeom>
          <a:noFill/>
        </p:spPr>
        <p:txBody>
          <a:bodyPr wrap="square" tIns="0" bIns="0" lIns="25400" rIns="25400">
            <a:spAutoFit/>
          </a:bodyPr>
          <a:lstStyle/>
          <a:p>
            <a:pPr algn="l"/>
            <a:r>
              <a:rPr sz="1100" b="0" i="0">
                <a:solidFill>
                  <a:srgbClr val="277D52"/>
                </a:solidFill>
              </a:rPr>
              <a:t>◎  子供が騒いでも大丈夫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616" y="4069080"/>
            <a:ext cx="3493007" cy="475488"/>
          </a:xfrm>
          <a:prstGeom prst="rect">
            <a:avLst/>
          </a:prstGeom>
          <a:noFill/>
        </p:spPr>
        <p:txBody>
          <a:bodyPr wrap="square" tIns="0" bIns="0" lIns="25400" rIns="25400">
            <a:spAutoFit/>
          </a:bodyPr>
          <a:lstStyle/>
          <a:p>
            <a:pPr algn="l"/>
            <a:r>
              <a:rPr sz="1100" b="0" i="0">
                <a:solidFill>
                  <a:srgbClr val="277D52"/>
                </a:solidFill>
              </a:rPr>
              <a:t>◎  飲食物の持込自由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616" y="4645152"/>
            <a:ext cx="3493007" cy="475488"/>
          </a:xfrm>
          <a:prstGeom prst="rect">
            <a:avLst/>
          </a:prstGeom>
          <a:noFill/>
        </p:spPr>
        <p:txBody>
          <a:bodyPr wrap="square" tIns="0" bIns="0" lIns="25400" rIns="25400">
            <a:spAutoFit/>
          </a:bodyPr>
          <a:lstStyle/>
          <a:p>
            <a:pPr algn="l"/>
            <a:r>
              <a:rPr sz="1100" b="0" i="0">
                <a:solidFill>
                  <a:srgbClr val="6C757D"/>
                </a:solidFill>
              </a:rPr>
              <a:t>△  食事・飲み物の手配が必要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616" y="5221224"/>
            <a:ext cx="3493007" cy="475488"/>
          </a:xfrm>
          <a:prstGeom prst="rect">
            <a:avLst/>
          </a:prstGeom>
          <a:noFill/>
        </p:spPr>
        <p:txBody>
          <a:bodyPr wrap="square" tIns="0" bIns="0" lIns="25400" rIns="25400">
            <a:spAutoFit/>
          </a:bodyPr>
          <a:lstStyle/>
          <a:p>
            <a:pPr algn="l"/>
            <a:r>
              <a:rPr sz="1100" b="0" i="0">
                <a:solidFill>
                  <a:srgbClr val="6C757D"/>
                </a:solidFill>
              </a:rPr>
              <a:t>△  準備・片付けが発生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6616" y="5797296"/>
            <a:ext cx="3493007" cy="475488"/>
          </a:xfrm>
          <a:prstGeom prst="rect">
            <a:avLst/>
          </a:prstGeom>
          <a:noFill/>
        </p:spPr>
        <p:txBody>
          <a:bodyPr wrap="square" tIns="0" bIns="0" lIns="25400" rIns="25400">
            <a:spAutoFit/>
          </a:bodyPr>
          <a:lstStyle/>
          <a:p>
            <a:pPr algn="l"/>
            <a:r>
              <a:rPr sz="1100" b="0" i="0">
                <a:solidFill>
                  <a:srgbClr val="6C757D"/>
                </a:solidFill>
              </a:rPr>
              <a:t>△  正月は選択肢が限られる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60520" y="1170432"/>
            <a:ext cx="7818120" cy="1664208"/>
          </a:xfrm>
          <a:prstGeom prst="rect">
            <a:avLst/>
          </a:prstGeom>
          <a:solidFill>
            <a:srgbClr val="FFF3CD"/>
          </a:solidFill>
          <a:ln w="25400">
            <a:solidFill>
              <a:srgbClr val="C89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0789920" y="1261872"/>
            <a:ext cx="1115568" cy="256032"/>
          </a:xfrm>
          <a:prstGeom prst="rect">
            <a:avLst/>
          </a:prstGeom>
          <a:solidFill>
            <a:srgbClr val="C89B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000" b="1">
                <a:solidFill>
                  <a:srgbClr val="FFFFFF"/>
                </a:solidFill>
              </a:rPr>
              <a:t>★ おすすめ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7680" y="1243584"/>
            <a:ext cx="6446520" cy="365760"/>
          </a:xfrm>
          <a:prstGeom prst="rect">
            <a:avLst/>
          </a:prstGeom>
          <a:noFill/>
        </p:spPr>
        <p:txBody>
          <a:bodyPr wrap="square" tIns="0" bIns="0" lIns="25400" rIns="25400">
            <a:spAutoFit/>
          </a:bodyPr>
          <a:lstStyle/>
          <a:p>
            <a:pPr algn="l"/>
            <a:r>
              <a:rPr sz="1300" b="1" i="0">
                <a:solidFill>
                  <a:srgbClr val="1A375E"/>
                </a:solidFill>
              </a:rPr>
              <a:t>A-1  ジャンカラ キャンプルーム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0" y="1627632"/>
            <a:ext cx="7543800" cy="274320"/>
          </a:xfrm>
          <a:prstGeom prst="rect">
            <a:avLst/>
          </a:prstGeom>
          <a:noFill/>
        </p:spPr>
        <p:txBody>
          <a:bodyPr wrap="square" tIns="0" bIns="0" lIns="25400" rIns="25400">
            <a:spAutoFit/>
          </a:bodyPr>
          <a:lstStyle/>
          <a:p>
            <a:pPr algn="l"/>
            <a:r>
              <a:rPr sz="1000" b="0" i="1">
                <a:solidFill>
                  <a:srgbClr val="6C757D"/>
                </a:solidFill>
              </a:rPr>
              <a:t>加古川駅 徒歩8分｜インスタベース掲載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97680" y="1920240"/>
            <a:ext cx="7543800" cy="310896"/>
          </a:xfrm>
          <a:prstGeom prst="rect">
            <a:avLst/>
          </a:prstGeom>
          <a:noFill/>
        </p:spPr>
        <p:txBody>
          <a:bodyPr wrap="square" tIns="0" bIns="0" lIns="25400" rIns="25400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収容: 最大 20名　　料金: 12,100円〜 / 時間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97680" y="2249424"/>
            <a:ext cx="7543800" cy="475488"/>
          </a:xfrm>
          <a:prstGeom prst="rect">
            <a:avLst/>
          </a:prstGeom>
          <a:noFill/>
        </p:spPr>
        <p:txBody>
          <a:bodyPr wrap="square" tIns="0" bIns="0" lIns="25400" rIns="25400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カラオケ＋ドリンクバー完備。遊びと食事が1室で完結！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60520" y="2935224"/>
            <a:ext cx="7818120" cy="166420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297680" y="3008376"/>
            <a:ext cx="6446520" cy="365760"/>
          </a:xfrm>
          <a:prstGeom prst="rect">
            <a:avLst/>
          </a:prstGeom>
          <a:noFill/>
        </p:spPr>
        <p:txBody>
          <a:bodyPr wrap="square" tIns="0" bIns="0" lIns="25400" rIns="25400">
            <a:spAutoFit/>
          </a:bodyPr>
          <a:lstStyle/>
          <a:p>
            <a:pPr algn="l"/>
            <a:r>
              <a:rPr sz="1300" b="1" i="0">
                <a:solidFill>
                  <a:srgbClr val="1A375E"/>
                </a:solidFill>
              </a:rPr>
              <a:t>A-2  レンタルスタジオ Mi Crew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97680" y="3392424"/>
            <a:ext cx="7543800" cy="274320"/>
          </a:xfrm>
          <a:prstGeom prst="rect">
            <a:avLst/>
          </a:prstGeom>
          <a:noFill/>
        </p:spPr>
        <p:txBody>
          <a:bodyPr wrap="square" tIns="0" bIns="0" lIns="25400" rIns="25400">
            <a:spAutoFit/>
          </a:bodyPr>
          <a:lstStyle/>
          <a:p>
            <a:pPr algn="l"/>
            <a:r>
              <a:rPr sz="1000" b="0" i="1">
                <a:solidFill>
                  <a:srgbClr val="6C757D"/>
                </a:solidFill>
              </a:rPr>
              <a:t>JR加古川駅 徒歩3分｜インスタベース掲載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97680" y="3685032"/>
            <a:ext cx="7543800" cy="310896"/>
          </a:xfrm>
          <a:prstGeom prst="rect">
            <a:avLst/>
          </a:prstGeom>
          <a:noFill/>
        </p:spPr>
        <p:txBody>
          <a:bodyPr wrap="square" tIns="0" bIns="0" lIns="25400" rIns="25400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収容: 最大 20名　　料金: 要確認（平均 435円/人・時）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97680" y="4014215"/>
            <a:ext cx="7543800" cy="475488"/>
          </a:xfrm>
          <a:prstGeom prst="rect">
            <a:avLst/>
          </a:prstGeom>
          <a:noFill/>
        </p:spPr>
        <p:txBody>
          <a:bodyPr wrap="square" tIns="0" bIns="0" lIns="25400" rIns="25400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駅近で集合しやすい多目的スペース。持込自由。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160520" y="4700016"/>
            <a:ext cx="7818120" cy="166420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297680" y="4773168"/>
            <a:ext cx="6446520" cy="365760"/>
          </a:xfrm>
          <a:prstGeom prst="rect">
            <a:avLst/>
          </a:prstGeom>
          <a:noFill/>
        </p:spPr>
        <p:txBody>
          <a:bodyPr wrap="square" tIns="0" bIns="0" lIns="25400" rIns="25400">
            <a:spAutoFit/>
          </a:bodyPr>
          <a:lstStyle/>
          <a:p>
            <a:pPr algn="l"/>
            <a:r>
              <a:rPr sz="1300" b="1" i="0">
                <a:solidFill>
                  <a:srgbClr val="1A375E"/>
                </a:solidFill>
              </a:rPr>
              <a:t>A-3  明石駅前スペース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97680" y="5157216"/>
            <a:ext cx="7543800" cy="274320"/>
          </a:xfrm>
          <a:prstGeom prst="rect">
            <a:avLst/>
          </a:prstGeom>
          <a:noFill/>
        </p:spPr>
        <p:txBody>
          <a:bodyPr wrap="square" tIns="0" bIns="0" lIns="25400" rIns="25400">
            <a:spAutoFit/>
          </a:bodyPr>
          <a:lstStyle/>
          <a:p>
            <a:pPr algn="l"/>
            <a:r>
              <a:rPr sz="1000" b="0" i="1">
                <a:solidFill>
                  <a:srgbClr val="6C757D"/>
                </a:solidFill>
              </a:rPr>
              <a:t>JR明石駅 徒歩5分｜スペースマーケット掲載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80" y="5449824"/>
            <a:ext cx="7543800" cy="310896"/>
          </a:xfrm>
          <a:prstGeom prst="rect">
            <a:avLst/>
          </a:prstGeom>
          <a:noFill/>
        </p:spPr>
        <p:txBody>
          <a:bodyPr wrap="square" tIns="0" bIns="0" lIns="25400" rIns="25400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収容: 最大 15〜20名　　料金: 1,732〜2,310円 / 時間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97680" y="5779007"/>
            <a:ext cx="7543800" cy="475488"/>
          </a:xfrm>
          <a:prstGeom prst="rect">
            <a:avLst/>
          </a:prstGeom>
          <a:noFill/>
        </p:spPr>
        <p:txBody>
          <a:bodyPr wrap="square" tIns="0" bIns="0" lIns="25400" rIns="25400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子連れOK。明石側に集まるメンバーが多い場合に便利。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A37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88952" cy="64008"/>
          </a:xfrm>
          <a:prstGeom prst="rect">
            <a:avLst/>
          </a:prstGeom>
          <a:solidFill>
            <a:srgbClr val="C89B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91440"/>
            <a:ext cx="11430000" cy="566928"/>
          </a:xfrm>
          <a:prstGeom prst="rect">
            <a:avLst/>
          </a:prstGeom>
          <a:noFill/>
        </p:spPr>
        <p:txBody>
          <a:bodyPr wrap="square" tIns="0" bIns="0" lIns="25400" rIns="25400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プランA　食事手配 ＆ 費用概算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21792"/>
            <a:ext cx="11430000" cy="329184"/>
          </a:xfrm>
          <a:prstGeom prst="rect">
            <a:avLst/>
          </a:prstGeom>
          <a:noFill/>
        </p:spPr>
        <p:txBody>
          <a:bodyPr wrap="square" tIns="0" bIns="0" lIns="25400" rIns="25400">
            <a:spAutoFit/>
          </a:bodyPr>
          <a:lstStyle/>
          <a:p>
            <a:pPr algn="l"/>
            <a:r>
              <a:rPr sz="1100" b="0" i="0">
                <a:solidFill>
                  <a:srgbClr val="C89B3C"/>
                </a:solidFill>
              </a:rPr>
              <a:t>Plan A – Food &amp; Cost</a:t>
            </a:r>
          </a:p>
        </p:txBody>
      </p:sp>
      <p:sp>
        <p:nvSpPr>
          <p:cNvPr id="6" name="Rectangle 5"/>
          <p:cNvSpPr/>
          <p:nvPr/>
        </p:nvSpPr>
        <p:spPr>
          <a:xfrm>
            <a:off x="228600" y="1170432"/>
            <a:ext cx="5577840" cy="5486400"/>
          </a:xfrm>
          <a:prstGeom prst="rect">
            <a:avLst/>
          </a:prstGeom>
          <a:solidFill>
            <a:srgbClr val="FFFFFF"/>
          </a:solidFill>
          <a:ln w="12700">
            <a:solidFill>
              <a:srgbClr val="216B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56616" y="1261872"/>
            <a:ext cx="5321807" cy="365760"/>
          </a:xfrm>
          <a:prstGeom prst="rect">
            <a:avLst/>
          </a:prstGeom>
          <a:noFill/>
        </p:spPr>
        <p:txBody>
          <a:bodyPr wrap="square" tIns="0" bIns="0" lIns="25400" rIns="25400">
            <a:spAutoFit/>
          </a:bodyPr>
          <a:lstStyle/>
          <a:p>
            <a:pPr algn="l"/>
            <a:r>
              <a:rPr sz="1400" b="1" i="0">
                <a:solidFill>
                  <a:srgbClr val="216BAE"/>
                </a:solidFill>
              </a:rPr>
              <a:t>食事の手配方法</a:t>
            </a:r>
          </a:p>
        </p:txBody>
      </p:sp>
      <p:sp>
        <p:nvSpPr>
          <p:cNvPr id="8" name="Rectangle 7"/>
          <p:cNvSpPr/>
          <p:nvPr/>
        </p:nvSpPr>
        <p:spPr>
          <a:xfrm>
            <a:off x="228600" y="1627632"/>
            <a:ext cx="5577840" cy="36576"/>
          </a:xfrm>
          <a:prstGeom prst="rect">
            <a:avLst/>
          </a:prstGeom>
          <a:solidFill>
            <a:srgbClr val="216B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38328" y="1755648"/>
            <a:ext cx="804672" cy="237744"/>
          </a:xfrm>
          <a:prstGeom prst="rect">
            <a:avLst/>
          </a:prstGeom>
          <a:solidFill>
            <a:srgbClr val="277D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800" b="1">
                <a:solidFill>
                  <a:srgbClr val="FFFFFF"/>
                </a:solidFill>
              </a:rPr>
              <a:t>おすすめ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16152" y="1737360"/>
            <a:ext cx="4462272" cy="310896"/>
          </a:xfrm>
          <a:prstGeom prst="rect">
            <a:avLst/>
          </a:prstGeom>
          <a:noFill/>
        </p:spPr>
        <p:txBody>
          <a:bodyPr wrap="square" tIns="0" bIns="0" lIns="25400" rIns="25400">
            <a:spAutoFit/>
          </a:bodyPr>
          <a:lstStyle/>
          <a:p>
            <a:pPr algn="l"/>
            <a:r>
              <a:rPr sz="1100" b="1" i="0">
                <a:solidFill>
                  <a:srgbClr val="1A1A2E"/>
                </a:solidFill>
              </a:rPr>
              <a:t>テイクアウト分担方式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16152" y="2048255"/>
            <a:ext cx="4462272" cy="329184"/>
          </a:xfrm>
          <a:prstGeom prst="rect">
            <a:avLst/>
          </a:prstGeom>
          <a:noFill/>
        </p:spPr>
        <p:txBody>
          <a:bodyPr wrap="square" tIns="0" bIns="0" lIns="25400" rIns="25400">
            <a:spAutoFit/>
          </a:bodyPr>
          <a:lstStyle/>
          <a:p>
            <a:pPr algn="l"/>
            <a:r>
              <a:rPr sz="1000" b="0" i="0">
                <a:solidFill>
                  <a:srgbClr val="6C757D"/>
                </a:solidFill>
              </a:rPr>
              <a:t>複数店舗に分散手配してリスク分散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8328" y="2414015"/>
            <a:ext cx="5358383" cy="18288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38328" y="2505456"/>
            <a:ext cx="804672" cy="237744"/>
          </a:xfrm>
          <a:prstGeom prst="rect">
            <a:avLst/>
          </a:prstGeom>
          <a:solidFill>
            <a:srgbClr val="1A37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800" b="1">
                <a:solidFill>
                  <a:srgbClr val="FFFFFF"/>
                </a:solidFill>
              </a:rPr>
              <a:t>主食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16152" y="2487168"/>
            <a:ext cx="4462272" cy="310896"/>
          </a:xfrm>
          <a:prstGeom prst="rect">
            <a:avLst/>
          </a:prstGeom>
          <a:noFill/>
        </p:spPr>
        <p:txBody>
          <a:bodyPr wrap="square" tIns="0" bIns="0" lIns="25400" rIns="25400">
            <a:spAutoFit/>
          </a:bodyPr>
          <a:lstStyle/>
          <a:p>
            <a:pPr algn="l"/>
            <a:r>
              <a:rPr sz="1100" b="1" i="0">
                <a:solidFill>
                  <a:srgbClr val="1A1A2E"/>
                </a:solidFill>
              </a:rPr>
              <a:t>ごんた寿し（加古川）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16152" y="2798063"/>
            <a:ext cx="4462272" cy="329184"/>
          </a:xfrm>
          <a:prstGeom prst="rect">
            <a:avLst/>
          </a:prstGeom>
          <a:noFill/>
        </p:spPr>
        <p:txBody>
          <a:bodyPr wrap="square" tIns="0" bIns="0" lIns="25400" rIns="25400">
            <a:spAutoFit/>
          </a:bodyPr>
          <a:lstStyle/>
          <a:p>
            <a:pPr algn="l"/>
            <a:r>
              <a:rPr sz="1000" b="0" i="0">
                <a:solidFill>
                  <a:srgbClr val="6C757D"/>
                </a:solidFill>
              </a:rPr>
              <a:t>出前・仕出し桶 ／ 正月は要事前予約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38328" y="3163823"/>
            <a:ext cx="5358383" cy="18288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38328" y="3255264"/>
            <a:ext cx="804672" cy="237744"/>
          </a:xfrm>
          <a:prstGeom prst="rect">
            <a:avLst/>
          </a:prstGeom>
          <a:solidFill>
            <a:srgbClr val="1A37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800" b="1">
                <a:solidFill>
                  <a:srgbClr val="FFFFFF"/>
                </a:solidFill>
              </a:rPr>
              <a:t>主食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16152" y="3236976"/>
            <a:ext cx="4462272" cy="310896"/>
          </a:xfrm>
          <a:prstGeom prst="rect">
            <a:avLst/>
          </a:prstGeom>
          <a:noFill/>
        </p:spPr>
        <p:txBody>
          <a:bodyPr wrap="square" tIns="0" bIns="0" lIns="25400" rIns="25400">
            <a:spAutoFit/>
          </a:bodyPr>
          <a:lstStyle/>
          <a:p>
            <a:pPr algn="l"/>
            <a:r>
              <a:rPr sz="1100" b="1" i="0">
                <a:solidFill>
                  <a:srgbClr val="1A1A2E"/>
                </a:solidFill>
              </a:rPr>
              <a:t>はま寿司 テイクアウト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16152" y="3547872"/>
            <a:ext cx="4462272" cy="329184"/>
          </a:xfrm>
          <a:prstGeom prst="rect">
            <a:avLst/>
          </a:prstGeom>
          <a:noFill/>
        </p:spPr>
        <p:txBody>
          <a:bodyPr wrap="square" tIns="0" bIns="0" lIns="25400" rIns="25400">
            <a:spAutoFit/>
          </a:bodyPr>
          <a:lstStyle/>
          <a:p>
            <a:pPr algn="l"/>
            <a:r>
              <a:rPr sz="1000" b="0" i="0">
                <a:solidFill>
                  <a:srgbClr val="6C757D"/>
                </a:solidFill>
              </a:rPr>
              <a:t>桶寿司ネット予約 ／ 大量注文向き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38328" y="3913632"/>
            <a:ext cx="5358383" cy="18288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38328" y="4005072"/>
            <a:ext cx="804672" cy="237744"/>
          </a:xfrm>
          <a:prstGeom prst="rect">
            <a:avLst/>
          </a:prstGeom>
          <a:solidFill>
            <a:srgbClr val="216B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800" b="1">
                <a:solidFill>
                  <a:srgbClr val="FFFFFF"/>
                </a:solidFill>
              </a:rPr>
              <a:t>副菜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16152" y="3986784"/>
            <a:ext cx="4462272" cy="310896"/>
          </a:xfrm>
          <a:prstGeom prst="rect">
            <a:avLst/>
          </a:prstGeom>
          <a:noFill/>
        </p:spPr>
        <p:txBody>
          <a:bodyPr wrap="square" tIns="0" bIns="0" lIns="25400" rIns="25400">
            <a:spAutoFit/>
          </a:bodyPr>
          <a:lstStyle/>
          <a:p>
            <a:pPr algn="l"/>
            <a:r>
              <a:rPr sz="1100" b="1" i="0">
                <a:solidFill>
                  <a:srgbClr val="1A1A2E"/>
                </a:solidFill>
              </a:rPr>
              <a:t>善乃（加古川）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16152" y="4297680"/>
            <a:ext cx="4462272" cy="329184"/>
          </a:xfrm>
          <a:prstGeom prst="rect">
            <a:avLst/>
          </a:prstGeom>
          <a:noFill/>
        </p:spPr>
        <p:txBody>
          <a:bodyPr wrap="square" tIns="0" bIns="0" lIns="25400" rIns="25400">
            <a:spAutoFit/>
          </a:bodyPr>
          <a:lstStyle/>
          <a:p>
            <a:pPr algn="l"/>
            <a:r>
              <a:rPr sz="1000" b="0" i="0">
                <a:solidFill>
                  <a:srgbClr val="6C757D"/>
                </a:solidFill>
              </a:rPr>
              <a:t>オードブル・揚げ物・仕出し対応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38328" y="4663440"/>
            <a:ext cx="5358383" cy="18288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38328" y="4754879"/>
            <a:ext cx="804672" cy="237744"/>
          </a:xfrm>
          <a:prstGeom prst="rect">
            <a:avLst/>
          </a:prstGeom>
          <a:solidFill>
            <a:srgbClr val="C89B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800" b="1">
                <a:solidFill>
                  <a:srgbClr val="FFFFFF"/>
                </a:solidFill>
              </a:rPr>
              <a:t>補助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16152" y="4736592"/>
            <a:ext cx="4462272" cy="310896"/>
          </a:xfrm>
          <a:prstGeom prst="rect">
            <a:avLst/>
          </a:prstGeom>
          <a:noFill/>
        </p:spPr>
        <p:txBody>
          <a:bodyPr wrap="square" tIns="0" bIns="0" lIns="25400" rIns="25400">
            <a:spAutoFit/>
          </a:bodyPr>
          <a:lstStyle/>
          <a:p>
            <a:pPr algn="l"/>
            <a:r>
              <a:rPr sz="1100" b="1" i="0">
                <a:solidFill>
                  <a:srgbClr val="1A1A2E"/>
                </a:solidFill>
              </a:rPr>
              <a:t>デリバリー（Uber Eats / 出前館）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16152" y="5047488"/>
            <a:ext cx="4462272" cy="329184"/>
          </a:xfrm>
          <a:prstGeom prst="rect">
            <a:avLst/>
          </a:prstGeom>
          <a:noFill/>
        </p:spPr>
        <p:txBody>
          <a:bodyPr wrap="square" tIns="0" bIns="0" lIns="25400" rIns="25400">
            <a:spAutoFit/>
          </a:bodyPr>
          <a:lstStyle/>
          <a:p>
            <a:pPr algn="l"/>
            <a:r>
              <a:rPr sz="1000" b="0" i="0">
                <a:solidFill>
                  <a:srgbClr val="6C757D"/>
                </a:solidFill>
              </a:rPr>
              <a:t>正月は遅延リスクあり。補填用に活用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38328" y="5413248"/>
            <a:ext cx="5358383" cy="18288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38328" y="5504687"/>
            <a:ext cx="804672" cy="237744"/>
          </a:xfrm>
          <a:prstGeom prst="rect">
            <a:avLst/>
          </a:prstGeom>
          <a:solidFill>
            <a:srgbClr val="6C75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800" b="1">
                <a:solidFill>
                  <a:srgbClr val="FFFFFF"/>
                </a:solidFill>
              </a:rPr>
              <a:t>前日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16152" y="5486399"/>
            <a:ext cx="4462272" cy="310896"/>
          </a:xfrm>
          <a:prstGeom prst="rect">
            <a:avLst/>
          </a:prstGeom>
          <a:noFill/>
        </p:spPr>
        <p:txBody>
          <a:bodyPr wrap="square" tIns="0" bIns="0" lIns="25400" rIns="25400">
            <a:spAutoFit/>
          </a:bodyPr>
          <a:lstStyle/>
          <a:p>
            <a:pPr algn="l"/>
            <a:r>
              <a:rPr sz="1100" b="1" i="0">
                <a:solidFill>
                  <a:srgbClr val="1A1A2E"/>
                </a:solidFill>
              </a:rPr>
              <a:t>業務スーパー・コストコで調達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16152" y="5797295"/>
            <a:ext cx="4462272" cy="329184"/>
          </a:xfrm>
          <a:prstGeom prst="rect">
            <a:avLst/>
          </a:prstGeom>
          <a:noFill/>
        </p:spPr>
        <p:txBody>
          <a:bodyPr wrap="square" tIns="0" bIns="0" lIns="25400" rIns="25400">
            <a:spAutoFit/>
          </a:bodyPr>
          <a:lstStyle/>
          <a:p>
            <a:pPr algn="l"/>
            <a:r>
              <a:rPr sz="1000" b="0" i="0">
                <a:solidFill>
                  <a:srgbClr val="6C757D"/>
                </a:solidFill>
              </a:rPr>
              <a:t>飲み物・お菓子・紙皿・ゴミ袋等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989320" y="1170432"/>
            <a:ext cx="5989320" cy="5486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89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153912" y="1261872"/>
            <a:ext cx="5660136" cy="365760"/>
          </a:xfrm>
          <a:prstGeom prst="rect">
            <a:avLst/>
          </a:prstGeom>
          <a:noFill/>
        </p:spPr>
        <p:txBody>
          <a:bodyPr wrap="square" tIns="0" bIns="0" lIns="25400" rIns="25400">
            <a:spAutoFit/>
          </a:bodyPr>
          <a:lstStyle/>
          <a:p>
            <a:pPr algn="l"/>
            <a:r>
              <a:rPr sz="1400" b="1" i="0">
                <a:solidFill>
                  <a:srgbClr val="1A375E"/>
                </a:solidFill>
              </a:rPr>
              <a:t>費用概算（14名）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989320" y="1627632"/>
            <a:ext cx="5989320" cy="36576"/>
          </a:xfrm>
          <a:prstGeom prst="rect">
            <a:avLst/>
          </a:prstGeom>
          <a:solidFill>
            <a:srgbClr val="C89B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153912" y="1700784"/>
            <a:ext cx="3703320" cy="329184"/>
          </a:xfrm>
          <a:prstGeom prst="rect">
            <a:avLst/>
          </a:prstGeom>
          <a:noFill/>
        </p:spPr>
        <p:txBody>
          <a:bodyPr wrap="square" tIns="0" bIns="0" lIns="25400" rIns="25400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レンタルスペース（5〜6時間）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966959" y="1700784"/>
            <a:ext cx="1828800" cy="329184"/>
          </a:xfrm>
          <a:prstGeom prst="rect">
            <a:avLst/>
          </a:prstGeom>
          <a:noFill/>
        </p:spPr>
        <p:txBody>
          <a:bodyPr wrap="square" tIns="0" bIns="0" lIns="25400" rIns="25400">
            <a:spAutoFit/>
          </a:bodyPr>
          <a:lstStyle/>
          <a:p>
            <a:pPr algn="r"/>
            <a:r>
              <a:rPr sz="1100" b="0" i="0">
                <a:solidFill>
                  <a:srgbClr val="1A1A2E"/>
                </a:solidFill>
              </a:rPr>
              <a:t>60,000円〜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099048" y="2029967"/>
            <a:ext cx="5769864" cy="18288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153912" y="2121408"/>
            <a:ext cx="3703320" cy="329184"/>
          </a:xfrm>
          <a:prstGeom prst="rect">
            <a:avLst/>
          </a:prstGeom>
          <a:noFill/>
        </p:spPr>
        <p:txBody>
          <a:bodyPr wrap="square" tIns="0" bIns="0" lIns="25400" rIns="25400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寿司テイクアウト × 3〜4本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966959" y="2121408"/>
            <a:ext cx="1828800" cy="329184"/>
          </a:xfrm>
          <a:prstGeom prst="rect">
            <a:avLst/>
          </a:prstGeom>
          <a:noFill/>
        </p:spPr>
        <p:txBody>
          <a:bodyPr wrap="square" tIns="0" bIns="0" lIns="25400" rIns="25400">
            <a:spAutoFit/>
          </a:bodyPr>
          <a:lstStyle/>
          <a:p>
            <a:pPr algn="r"/>
            <a:r>
              <a:rPr sz="1100" b="0" i="0">
                <a:solidFill>
                  <a:srgbClr val="1A1A2E"/>
                </a:solidFill>
              </a:rPr>
              <a:t>25,000〜35,000円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099048" y="2450591"/>
            <a:ext cx="5769864" cy="18288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153912" y="2542032"/>
            <a:ext cx="3703320" cy="329184"/>
          </a:xfrm>
          <a:prstGeom prst="rect">
            <a:avLst/>
          </a:prstGeom>
          <a:noFill/>
        </p:spPr>
        <p:txBody>
          <a:bodyPr wrap="square" tIns="0" bIns="0" lIns="25400" rIns="25400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オードブル・揚げ物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966959" y="2542032"/>
            <a:ext cx="1828800" cy="329184"/>
          </a:xfrm>
          <a:prstGeom prst="rect">
            <a:avLst/>
          </a:prstGeom>
          <a:noFill/>
        </p:spPr>
        <p:txBody>
          <a:bodyPr wrap="square" tIns="0" bIns="0" lIns="25400" rIns="25400">
            <a:spAutoFit/>
          </a:bodyPr>
          <a:lstStyle/>
          <a:p>
            <a:pPr algn="r"/>
            <a:r>
              <a:rPr sz="1100" b="0" i="0">
                <a:solidFill>
                  <a:srgbClr val="1A1A2E"/>
                </a:solidFill>
              </a:rPr>
              <a:t>10,000〜15,000円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099048" y="2871215"/>
            <a:ext cx="5769864" cy="18288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153912" y="2962656"/>
            <a:ext cx="3703320" cy="329184"/>
          </a:xfrm>
          <a:prstGeom prst="rect">
            <a:avLst/>
          </a:prstGeom>
          <a:noFill/>
        </p:spPr>
        <p:txBody>
          <a:bodyPr wrap="square" tIns="0" bIns="0" lIns="25400" rIns="25400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飲み物・お菓子・消耗品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966959" y="2962656"/>
            <a:ext cx="1828800" cy="329184"/>
          </a:xfrm>
          <a:prstGeom prst="rect">
            <a:avLst/>
          </a:prstGeom>
          <a:noFill/>
        </p:spPr>
        <p:txBody>
          <a:bodyPr wrap="square" tIns="0" bIns="0" lIns="25400" rIns="25400">
            <a:spAutoFit/>
          </a:bodyPr>
          <a:lstStyle/>
          <a:p>
            <a:pPr algn="r"/>
            <a:r>
              <a:rPr sz="1100" b="0" i="0">
                <a:solidFill>
                  <a:srgbClr val="1A1A2E"/>
                </a:solidFill>
              </a:rPr>
              <a:t>8,000〜12,000円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099048" y="3291840"/>
            <a:ext cx="5769864" cy="18288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5989320" y="3474720"/>
            <a:ext cx="5989320" cy="502920"/>
          </a:xfrm>
          <a:prstGeom prst="rect">
            <a:avLst/>
          </a:prstGeom>
          <a:solidFill>
            <a:srgbClr val="1A37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153912" y="3547872"/>
            <a:ext cx="3703320" cy="347472"/>
          </a:xfrm>
          <a:prstGeom prst="rect">
            <a:avLst/>
          </a:prstGeom>
          <a:noFill/>
        </p:spPr>
        <p:txBody>
          <a:bodyPr wrap="square" tIns="0" bIns="0" lIns="25400" rIns="25400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合計（推定）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418320" y="3547872"/>
            <a:ext cx="2377440" cy="347472"/>
          </a:xfrm>
          <a:prstGeom prst="rect">
            <a:avLst/>
          </a:prstGeom>
          <a:noFill/>
        </p:spPr>
        <p:txBody>
          <a:bodyPr wrap="square" tIns="0" bIns="0" lIns="25400" rIns="25400">
            <a:spAutoFit/>
          </a:bodyPr>
          <a:lstStyle/>
          <a:p>
            <a:pPr algn="r"/>
            <a:r>
              <a:rPr sz="1300" b="1" i="0">
                <a:solidFill>
                  <a:srgbClr val="C89B3C"/>
                </a:solidFill>
              </a:rPr>
              <a:t>95,000〜112,000円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989320" y="4069080"/>
            <a:ext cx="5989320" cy="475488"/>
          </a:xfrm>
          <a:prstGeom prst="rect">
            <a:avLst/>
          </a:prstGeom>
          <a:solidFill>
            <a:srgbClr val="FFF3CD"/>
          </a:solidFill>
          <a:ln w="12700">
            <a:solidFill>
              <a:srgbClr val="C89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153912" y="4142232"/>
            <a:ext cx="3703320" cy="329184"/>
          </a:xfrm>
          <a:prstGeom prst="rect">
            <a:avLst/>
          </a:prstGeom>
          <a:noFill/>
        </p:spPr>
        <p:txBody>
          <a:bodyPr wrap="square" tIns="0" bIns="0" lIns="25400" rIns="25400">
            <a:spAutoFit/>
          </a:bodyPr>
          <a:lstStyle/>
          <a:p>
            <a:pPr algn="l"/>
            <a:r>
              <a:rPr sz="1300" b="1" i="0">
                <a:solidFill>
                  <a:srgbClr val="1A375E"/>
                </a:solidFill>
              </a:rPr>
              <a:t>1人あたり（概算）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418320" y="4142232"/>
            <a:ext cx="2377440" cy="329184"/>
          </a:xfrm>
          <a:prstGeom prst="rect">
            <a:avLst/>
          </a:prstGeom>
          <a:noFill/>
        </p:spPr>
        <p:txBody>
          <a:bodyPr wrap="square" tIns="0" bIns="0" lIns="25400" rIns="25400">
            <a:spAutoFit/>
          </a:bodyPr>
          <a:lstStyle/>
          <a:p>
            <a:pPr algn="r"/>
            <a:r>
              <a:rPr sz="1300" b="1" i="0">
                <a:solidFill>
                  <a:srgbClr val="277D52"/>
                </a:solidFill>
              </a:rPr>
              <a:t>約 6,800〜8,000円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153912" y="4727448"/>
            <a:ext cx="5660136" cy="310896"/>
          </a:xfrm>
          <a:prstGeom prst="rect">
            <a:avLst/>
          </a:prstGeom>
          <a:noFill/>
        </p:spPr>
        <p:txBody>
          <a:bodyPr wrap="square" tIns="0" bIns="0" lIns="25400" rIns="25400">
            <a:spAutoFit/>
          </a:bodyPr>
          <a:lstStyle/>
          <a:p>
            <a:pPr algn="l"/>
            <a:r>
              <a:rPr sz="1200" b="1" i="0">
                <a:solidFill>
                  <a:srgbClr val="1A375E"/>
                </a:solidFill>
              </a:rPr>
              <a:t>当日の持ち物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099048" y="5038344"/>
            <a:ext cx="5769864" cy="27432"/>
          </a:xfrm>
          <a:prstGeom prst="rect">
            <a:avLst/>
          </a:prstGeom>
          <a:solidFill>
            <a:srgbClr val="C89B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153912" y="5129784"/>
            <a:ext cx="5660136" cy="274320"/>
          </a:xfrm>
          <a:prstGeom prst="rect">
            <a:avLst/>
          </a:prstGeom>
          <a:noFill/>
        </p:spPr>
        <p:txBody>
          <a:bodyPr wrap="square" tIns="0" bIns="0" lIns="25400" rIns="25400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✔  紙皿・紙コップ・割り箸（多めに）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153912" y="5422392"/>
            <a:ext cx="5660136" cy="274320"/>
          </a:xfrm>
          <a:prstGeom prst="rect">
            <a:avLst/>
          </a:prstGeom>
          <a:noFill/>
        </p:spPr>
        <p:txBody>
          <a:bodyPr wrap="square" tIns="0" bIns="0" lIns="25400" rIns="25400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✔  ゴミ袋（大）× 数枚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153912" y="5715000"/>
            <a:ext cx="5660136" cy="274320"/>
          </a:xfrm>
          <a:prstGeom prst="rect">
            <a:avLst/>
          </a:prstGeom>
          <a:noFill/>
        </p:spPr>
        <p:txBody>
          <a:bodyPr wrap="square" tIns="0" bIns="0" lIns="25400" rIns="25400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✔  トランプ・UNO・ボードゲーム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153912" y="6007608"/>
            <a:ext cx="5660136" cy="274320"/>
          </a:xfrm>
          <a:prstGeom prst="rect">
            <a:avLst/>
          </a:prstGeom>
          <a:noFill/>
        </p:spPr>
        <p:txBody>
          <a:bodyPr wrap="square" tIns="0" bIns="0" lIns="25400" rIns="25400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✔  Bluetoothスピーカー（BGM用）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153912" y="6300216"/>
            <a:ext cx="5660136" cy="274320"/>
          </a:xfrm>
          <a:prstGeom prst="rect">
            <a:avLst/>
          </a:prstGeom>
          <a:noFill/>
        </p:spPr>
        <p:txBody>
          <a:bodyPr wrap="square" tIns="0" bIns="0" lIns="25400" rIns="25400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✔  延長コード・ウェットティッシュ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A37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88952" cy="64008"/>
          </a:xfrm>
          <a:prstGeom prst="rect">
            <a:avLst/>
          </a:prstGeom>
          <a:solidFill>
            <a:srgbClr val="C89B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91440"/>
            <a:ext cx="11430000" cy="566928"/>
          </a:xfrm>
          <a:prstGeom prst="rect">
            <a:avLst/>
          </a:prstGeom>
          <a:noFill/>
        </p:spPr>
        <p:txBody>
          <a:bodyPr wrap="square" tIns="0" bIns="0" lIns="25400" rIns="25400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プランB　ホテル宴会場（加古川プラザホテル）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21792"/>
            <a:ext cx="11430000" cy="329184"/>
          </a:xfrm>
          <a:prstGeom prst="rect">
            <a:avLst/>
          </a:prstGeom>
          <a:noFill/>
        </p:spPr>
        <p:txBody>
          <a:bodyPr wrap="square" tIns="0" bIns="0" lIns="25400" rIns="25400">
            <a:spAutoFit/>
          </a:bodyPr>
          <a:lstStyle/>
          <a:p>
            <a:pPr algn="l"/>
            <a:r>
              <a:rPr sz="1100" b="0" i="0">
                <a:solidFill>
                  <a:srgbClr val="C89B3C"/>
                </a:solidFill>
              </a:rPr>
              <a:t>Plan B – Hotel Banquet Hall</a:t>
            </a:r>
          </a:p>
        </p:txBody>
      </p:sp>
      <p:sp>
        <p:nvSpPr>
          <p:cNvPr id="6" name="Rectangle 5"/>
          <p:cNvSpPr/>
          <p:nvPr/>
        </p:nvSpPr>
        <p:spPr>
          <a:xfrm>
            <a:off x="228600" y="1170432"/>
            <a:ext cx="7406640" cy="3154680"/>
          </a:xfrm>
          <a:prstGeom prst="rect">
            <a:avLst/>
          </a:prstGeom>
          <a:solidFill>
            <a:srgbClr val="FFFFFF"/>
          </a:solidFill>
          <a:ln w="19050">
            <a:solidFill>
              <a:srgbClr val="1A37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261872"/>
            <a:ext cx="7132320" cy="457200"/>
          </a:xfrm>
          <a:prstGeom prst="rect">
            <a:avLst/>
          </a:prstGeom>
          <a:noFill/>
        </p:spPr>
        <p:txBody>
          <a:bodyPr wrap="square" tIns="0" bIns="0" lIns="25400" rIns="25400">
            <a:spAutoFit/>
          </a:bodyPr>
          <a:lstStyle/>
          <a:p>
            <a:pPr algn="l"/>
            <a:r>
              <a:rPr sz="2000" b="1" i="0">
                <a:solidFill>
                  <a:srgbClr val="1A375E"/>
                </a:solidFill>
              </a:rPr>
              <a:t>加古川プラザホテル</a:t>
            </a:r>
          </a:p>
        </p:txBody>
      </p:sp>
      <p:sp>
        <p:nvSpPr>
          <p:cNvPr id="8" name="Rectangle 7"/>
          <p:cNvSpPr/>
          <p:nvPr/>
        </p:nvSpPr>
        <p:spPr>
          <a:xfrm>
            <a:off x="228600" y="1719072"/>
            <a:ext cx="7406640" cy="36576"/>
          </a:xfrm>
          <a:prstGeom prst="rect">
            <a:avLst/>
          </a:prstGeom>
          <a:solidFill>
            <a:srgbClr val="C89B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1837943"/>
            <a:ext cx="1600200" cy="365760"/>
          </a:xfrm>
          <a:prstGeom prst="rect">
            <a:avLst/>
          </a:prstGeom>
          <a:noFill/>
        </p:spPr>
        <p:txBody>
          <a:bodyPr wrap="square" tIns="0" bIns="0" lIns="25400" rIns="25400">
            <a:spAutoFit/>
          </a:bodyPr>
          <a:lstStyle/>
          <a:p>
            <a:pPr algn="l"/>
            <a:r>
              <a:rPr sz="1100" b="1" i="0">
                <a:solidFill>
                  <a:srgbClr val="6C757D"/>
                </a:solidFill>
              </a:rPr>
              <a:t>住所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11680" y="1837943"/>
            <a:ext cx="5486400" cy="365760"/>
          </a:xfrm>
          <a:prstGeom prst="rect">
            <a:avLst/>
          </a:prstGeom>
          <a:noFill/>
        </p:spPr>
        <p:txBody>
          <a:bodyPr wrap="square" tIns="0" bIns="0" lIns="25400" rIns="25400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加古川市加古川町溝之口800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2313432"/>
            <a:ext cx="1600200" cy="365760"/>
          </a:xfrm>
          <a:prstGeom prst="rect">
            <a:avLst/>
          </a:prstGeom>
          <a:noFill/>
        </p:spPr>
        <p:txBody>
          <a:bodyPr wrap="square" tIns="0" bIns="0" lIns="25400" rIns="25400">
            <a:spAutoFit/>
          </a:bodyPr>
          <a:lstStyle/>
          <a:p>
            <a:pPr algn="l"/>
            <a:r>
              <a:rPr sz="1100" b="1" i="0">
                <a:solidFill>
                  <a:srgbClr val="6C757D"/>
                </a:solidFill>
              </a:rPr>
              <a:t>宴会 TEL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11680" y="2313432"/>
            <a:ext cx="5486400" cy="365760"/>
          </a:xfrm>
          <a:prstGeom prst="rect">
            <a:avLst/>
          </a:prstGeom>
          <a:noFill/>
        </p:spPr>
        <p:txBody>
          <a:bodyPr wrap="square" tIns="0" bIns="0" lIns="25400" rIns="25400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079-421-6012　（受付 10:00〜17:00）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2788920"/>
            <a:ext cx="1600200" cy="365760"/>
          </a:xfrm>
          <a:prstGeom prst="rect">
            <a:avLst/>
          </a:prstGeom>
          <a:noFill/>
        </p:spPr>
        <p:txBody>
          <a:bodyPr wrap="square" tIns="0" bIns="0" lIns="25400" rIns="25400">
            <a:spAutoFit/>
          </a:bodyPr>
          <a:lstStyle/>
          <a:p>
            <a:pPr algn="l"/>
            <a:r>
              <a:rPr sz="1100" b="1" i="0">
                <a:solidFill>
                  <a:srgbClr val="6C757D"/>
                </a:solidFill>
              </a:rPr>
              <a:t>宴会場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11680" y="2788920"/>
            <a:ext cx="5486400" cy="365760"/>
          </a:xfrm>
          <a:prstGeom prst="rect">
            <a:avLst/>
          </a:prstGeom>
          <a:noFill/>
        </p:spPr>
        <p:txBody>
          <a:bodyPr wrap="square" tIns="0" bIns="0" lIns="25400" rIns="25400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大・中・小（芙蓉の間・牡丹の間 等）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3264408"/>
            <a:ext cx="1600200" cy="365760"/>
          </a:xfrm>
          <a:prstGeom prst="rect">
            <a:avLst/>
          </a:prstGeom>
          <a:noFill/>
        </p:spPr>
        <p:txBody>
          <a:bodyPr wrap="square" tIns="0" bIns="0" lIns="25400" rIns="25400">
            <a:spAutoFit/>
          </a:bodyPr>
          <a:lstStyle/>
          <a:p>
            <a:pPr algn="l"/>
            <a:r>
              <a:rPr sz="1100" b="1" i="0">
                <a:solidFill>
                  <a:srgbClr val="6C757D"/>
                </a:solidFill>
              </a:rPr>
              <a:t>雰囲気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11680" y="3264408"/>
            <a:ext cx="5486400" cy="365760"/>
          </a:xfrm>
          <a:prstGeom prst="rect">
            <a:avLst/>
          </a:prstGeom>
          <a:noFill/>
        </p:spPr>
        <p:txBody>
          <a:bodyPr wrap="square" tIns="0" bIns="0" lIns="25400" rIns="25400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シャンデリアあり ／ フォーマル〜セミフォーマル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3739896"/>
            <a:ext cx="1600200" cy="365760"/>
          </a:xfrm>
          <a:prstGeom prst="rect">
            <a:avLst/>
          </a:prstGeom>
          <a:noFill/>
        </p:spPr>
        <p:txBody>
          <a:bodyPr wrap="square" tIns="0" bIns="0" lIns="25400" rIns="25400">
            <a:spAutoFit/>
          </a:bodyPr>
          <a:lstStyle/>
          <a:p>
            <a:pPr algn="l"/>
            <a:r>
              <a:rPr sz="1100" b="1" i="0">
                <a:solidFill>
                  <a:srgbClr val="6C757D"/>
                </a:solidFill>
              </a:rPr>
              <a:t>駐車場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011680" y="3739896"/>
            <a:ext cx="5486400" cy="365760"/>
          </a:xfrm>
          <a:prstGeom prst="rect">
            <a:avLst/>
          </a:prstGeom>
          <a:noFill/>
        </p:spPr>
        <p:txBody>
          <a:bodyPr wrap="square" tIns="0" bIns="0" lIns="25400" rIns="25400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あり（台数は要確認）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818120" y="1170432"/>
            <a:ext cx="4160520" cy="3154680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955279" y="1261872"/>
            <a:ext cx="3886200" cy="365760"/>
          </a:xfrm>
          <a:prstGeom prst="rect">
            <a:avLst/>
          </a:prstGeom>
          <a:noFill/>
        </p:spPr>
        <p:txBody>
          <a:bodyPr wrap="square" tIns="0" bIns="0" lIns="25400" rIns="25400">
            <a:spAutoFit/>
          </a:bodyPr>
          <a:lstStyle/>
          <a:p>
            <a:pPr algn="l"/>
            <a:r>
              <a:rPr sz="1300" b="1" i="0">
                <a:solidFill>
                  <a:srgbClr val="1A375E"/>
                </a:solidFill>
              </a:rPr>
              <a:t>メリット・デメリット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818120" y="1719072"/>
            <a:ext cx="4160520" cy="36576"/>
          </a:xfrm>
          <a:prstGeom prst="rect">
            <a:avLst/>
          </a:prstGeom>
          <a:solidFill>
            <a:srgbClr val="C89B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955279" y="1837943"/>
            <a:ext cx="3886200" cy="402336"/>
          </a:xfrm>
          <a:prstGeom prst="rect">
            <a:avLst/>
          </a:prstGeom>
          <a:noFill/>
        </p:spPr>
        <p:txBody>
          <a:bodyPr wrap="square" tIns="0" bIns="0" lIns="25400" rIns="25400">
            <a:spAutoFit/>
          </a:bodyPr>
          <a:lstStyle/>
          <a:p>
            <a:pPr algn="l"/>
            <a:r>
              <a:rPr sz="1100" b="0" i="0">
                <a:solidFill>
                  <a:srgbClr val="277D52"/>
                </a:solidFill>
              </a:rPr>
              <a:t>◎  準備・片付けが不要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55279" y="2313432"/>
            <a:ext cx="3886200" cy="402336"/>
          </a:xfrm>
          <a:prstGeom prst="rect">
            <a:avLst/>
          </a:prstGeom>
          <a:noFill/>
        </p:spPr>
        <p:txBody>
          <a:bodyPr wrap="square" tIns="0" bIns="0" lIns="25400" rIns="25400">
            <a:spAutoFit/>
          </a:bodyPr>
          <a:lstStyle/>
          <a:p>
            <a:pPr algn="l"/>
            <a:r>
              <a:rPr sz="1100" b="0" i="0">
                <a:solidFill>
                  <a:srgbClr val="277D52"/>
                </a:solidFill>
              </a:rPr>
              <a:t>◎  料理の質・特別感が高い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955279" y="2788920"/>
            <a:ext cx="3886200" cy="402336"/>
          </a:xfrm>
          <a:prstGeom prst="rect">
            <a:avLst/>
          </a:prstGeom>
          <a:noFill/>
        </p:spPr>
        <p:txBody>
          <a:bodyPr wrap="square" tIns="0" bIns="0" lIns="25400" rIns="25400">
            <a:spAutoFit/>
          </a:bodyPr>
          <a:lstStyle/>
          <a:p>
            <a:pPr algn="l"/>
            <a:r>
              <a:rPr sz="1100" b="0" i="0">
                <a:solidFill>
                  <a:srgbClr val="277D52"/>
                </a:solidFill>
              </a:rPr>
              <a:t>◎  正月宴会プランあり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55279" y="3264408"/>
            <a:ext cx="3886200" cy="402336"/>
          </a:xfrm>
          <a:prstGeom prst="rect">
            <a:avLst/>
          </a:prstGeom>
          <a:noFill/>
        </p:spPr>
        <p:txBody>
          <a:bodyPr wrap="square" tIns="0" bIns="0" lIns="25400" rIns="25400">
            <a:spAutoFit/>
          </a:bodyPr>
          <a:lstStyle/>
          <a:p>
            <a:pPr algn="l"/>
            <a:r>
              <a:rPr sz="1100" b="0" i="0">
                <a:solidFill>
                  <a:srgbClr val="6C757D"/>
                </a:solidFill>
              </a:rPr>
              <a:t>△  カラオケは別途手配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955279" y="3739896"/>
            <a:ext cx="3886200" cy="402336"/>
          </a:xfrm>
          <a:prstGeom prst="rect">
            <a:avLst/>
          </a:prstGeom>
          <a:noFill/>
        </p:spPr>
        <p:txBody>
          <a:bodyPr wrap="square" tIns="0" bIns="0" lIns="25400" rIns="25400">
            <a:spAutoFit/>
          </a:bodyPr>
          <a:lstStyle/>
          <a:p>
            <a:pPr algn="l"/>
            <a:r>
              <a:rPr sz="1100" b="0" i="0">
                <a:solidFill>
                  <a:srgbClr val="6C757D"/>
                </a:solidFill>
              </a:rPr>
              <a:t>△  滞在時間は2〜3時間が目安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955279" y="4215383"/>
            <a:ext cx="3886200" cy="402336"/>
          </a:xfrm>
          <a:prstGeom prst="rect">
            <a:avLst/>
          </a:prstGeom>
          <a:noFill/>
        </p:spPr>
        <p:txBody>
          <a:bodyPr wrap="square" tIns="0" bIns="0" lIns="25400" rIns="25400">
            <a:spAutoFit/>
          </a:bodyPr>
          <a:lstStyle/>
          <a:p>
            <a:pPr algn="l"/>
            <a:r>
              <a:rPr sz="1100" b="0" i="0">
                <a:solidFill>
                  <a:srgbClr val="6C757D"/>
                </a:solidFill>
              </a:rPr>
              <a:t>△  費用がやや高い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28600" y="4480560"/>
            <a:ext cx="11750040" cy="2176272"/>
          </a:xfrm>
          <a:prstGeom prst="rect">
            <a:avLst/>
          </a:prstGeom>
          <a:solidFill>
            <a:srgbClr val="FFFFFF"/>
          </a:solidFill>
          <a:ln w="12700">
            <a:solidFill>
              <a:srgbClr val="C89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93192" y="4572000"/>
            <a:ext cx="11420856" cy="347472"/>
          </a:xfrm>
          <a:prstGeom prst="rect">
            <a:avLst/>
          </a:prstGeom>
          <a:noFill/>
        </p:spPr>
        <p:txBody>
          <a:bodyPr wrap="square" tIns="0" bIns="0" lIns="25400" rIns="25400">
            <a:spAutoFit/>
          </a:bodyPr>
          <a:lstStyle/>
          <a:p>
            <a:pPr algn="l"/>
            <a:r>
              <a:rPr sz="1400" b="1" i="0">
                <a:solidFill>
                  <a:srgbClr val="1A375E"/>
                </a:solidFill>
              </a:rPr>
              <a:t>費用概算（14名）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28600" y="4937760"/>
            <a:ext cx="11750040" cy="36576"/>
          </a:xfrm>
          <a:prstGeom prst="rect">
            <a:avLst/>
          </a:prstGeom>
          <a:solidFill>
            <a:srgbClr val="C89B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93192" y="4992624"/>
            <a:ext cx="4663440" cy="329184"/>
          </a:xfrm>
          <a:prstGeom prst="rect">
            <a:avLst/>
          </a:prstGeom>
          <a:solidFill>
            <a:srgbClr val="1A37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38912" y="5029200"/>
            <a:ext cx="4572000" cy="274320"/>
          </a:xfrm>
          <a:prstGeom prst="rect">
            <a:avLst/>
          </a:prstGeom>
          <a:noFill/>
        </p:spPr>
        <p:txBody>
          <a:bodyPr wrap="square" tIns="0" bIns="0" lIns="25400" rIns="2540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プランタイプ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257800" y="4992624"/>
            <a:ext cx="3474720" cy="329184"/>
          </a:xfrm>
          <a:prstGeom prst="rect">
            <a:avLst/>
          </a:prstGeom>
          <a:solidFill>
            <a:srgbClr val="216B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303520" y="5029200"/>
            <a:ext cx="3383279" cy="274320"/>
          </a:xfrm>
          <a:prstGeom prst="rect">
            <a:avLst/>
          </a:prstGeom>
          <a:noFill/>
        </p:spPr>
        <p:txBody>
          <a:bodyPr wrap="square" tIns="0" bIns="0" lIns="25400" rIns="2540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1名あたり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915400" y="4992624"/>
            <a:ext cx="2834640" cy="329184"/>
          </a:xfrm>
          <a:prstGeom prst="rect">
            <a:avLst/>
          </a:prstGeom>
          <a:solidFill>
            <a:srgbClr val="277D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961120" y="5029200"/>
            <a:ext cx="2743200" cy="274320"/>
          </a:xfrm>
          <a:prstGeom prst="rect">
            <a:avLst/>
          </a:prstGeom>
          <a:noFill/>
        </p:spPr>
        <p:txBody>
          <a:bodyPr wrap="square" tIns="0" bIns="0" lIns="25400" rIns="2540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14名合計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28600" y="5285232"/>
            <a:ext cx="11750040" cy="40233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38912" y="5321808"/>
            <a:ext cx="4572000" cy="329184"/>
          </a:xfrm>
          <a:prstGeom prst="rect">
            <a:avLst/>
          </a:prstGeom>
          <a:noFill/>
        </p:spPr>
        <p:txBody>
          <a:bodyPr wrap="square" tIns="0" bIns="0" lIns="25400" rIns="25400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和食コース（料理・飲物込み）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303520" y="5321808"/>
            <a:ext cx="3383279" cy="329184"/>
          </a:xfrm>
          <a:prstGeom prst="rect">
            <a:avLst/>
          </a:prstGeom>
          <a:noFill/>
        </p:spPr>
        <p:txBody>
          <a:bodyPr wrap="square" tIns="0" bIns="0" lIns="25400" rIns="25400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</a:rPr>
              <a:t>5,000〜8,000円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961120" y="5321808"/>
            <a:ext cx="2743200" cy="329184"/>
          </a:xfrm>
          <a:prstGeom prst="rect">
            <a:avLst/>
          </a:prstGeom>
          <a:noFill/>
        </p:spPr>
        <p:txBody>
          <a:bodyPr wrap="square" tIns="0" bIns="0" lIns="25400" rIns="25400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</a:rPr>
              <a:t>70,000〜112,000円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28600" y="5687568"/>
            <a:ext cx="11750040" cy="402336"/>
          </a:xfrm>
          <a:prstGeom prst="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38912" y="5724144"/>
            <a:ext cx="4572000" cy="329184"/>
          </a:xfrm>
          <a:prstGeom prst="rect">
            <a:avLst/>
          </a:prstGeom>
          <a:noFill/>
        </p:spPr>
        <p:txBody>
          <a:bodyPr wrap="square" tIns="0" bIns="0" lIns="25400" rIns="25400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バイキング形式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303520" y="5724144"/>
            <a:ext cx="3383279" cy="329184"/>
          </a:xfrm>
          <a:prstGeom prst="rect">
            <a:avLst/>
          </a:prstGeom>
          <a:noFill/>
        </p:spPr>
        <p:txBody>
          <a:bodyPr wrap="square" tIns="0" bIns="0" lIns="25400" rIns="25400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</a:rPr>
              <a:t>3,000〜5,000円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961120" y="5724144"/>
            <a:ext cx="2743200" cy="329184"/>
          </a:xfrm>
          <a:prstGeom prst="rect">
            <a:avLst/>
          </a:prstGeom>
          <a:noFill/>
        </p:spPr>
        <p:txBody>
          <a:bodyPr wrap="square" tIns="0" bIns="0" lIns="25400" rIns="25400">
            <a:spAutoFit/>
          </a:bodyPr>
          <a:lstStyle/>
          <a:p>
            <a:pPr algn="ctr"/>
            <a:r>
              <a:rPr sz="1100" b="1" i="0">
                <a:solidFill>
                  <a:srgbClr val="277D52"/>
                </a:solidFill>
              </a:rPr>
              <a:t>42,000〜70,000円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28600" y="6089904"/>
            <a:ext cx="11750040" cy="40233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38912" y="6126480"/>
            <a:ext cx="4572000" cy="329184"/>
          </a:xfrm>
          <a:prstGeom prst="rect">
            <a:avLst/>
          </a:prstGeom>
          <a:noFill/>
        </p:spPr>
        <p:txBody>
          <a:bodyPr wrap="square" tIns="0" bIns="0" lIns="25400" rIns="25400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会場のみ（持込）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303520" y="6126480"/>
            <a:ext cx="3383279" cy="329184"/>
          </a:xfrm>
          <a:prstGeom prst="rect">
            <a:avLst/>
          </a:prstGeom>
          <a:noFill/>
        </p:spPr>
        <p:txBody>
          <a:bodyPr wrap="square" tIns="0" bIns="0" lIns="25400" rIns="25400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</a:rPr>
              <a:t>1,000〜2,000円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961120" y="6126480"/>
            <a:ext cx="2743200" cy="329184"/>
          </a:xfrm>
          <a:prstGeom prst="rect">
            <a:avLst/>
          </a:prstGeom>
          <a:noFill/>
        </p:spPr>
        <p:txBody>
          <a:bodyPr wrap="square" tIns="0" bIns="0" lIns="25400" rIns="25400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</a:rPr>
              <a:t>14,000〜28,000円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A37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88952" cy="64008"/>
          </a:xfrm>
          <a:prstGeom prst="rect">
            <a:avLst/>
          </a:prstGeom>
          <a:solidFill>
            <a:srgbClr val="C89B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91440"/>
            <a:ext cx="11430000" cy="566928"/>
          </a:xfrm>
          <a:prstGeom prst="rect">
            <a:avLst/>
          </a:prstGeom>
          <a:noFill/>
        </p:spPr>
        <p:txBody>
          <a:bodyPr wrap="square" tIns="0" bIns="0" lIns="25400" rIns="25400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プランA vs プランB　比較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21792"/>
            <a:ext cx="11430000" cy="329184"/>
          </a:xfrm>
          <a:prstGeom prst="rect">
            <a:avLst/>
          </a:prstGeom>
          <a:noFill/>
        </p:spPr>
        <p:txBody>
          <a:bodyPr wrap="square" tIns="0" bIns="0" lIns="25400" rIns="25400">
            <a:spAutoFit/>
          </a:bodyPr>
          <a:lstStyle/>
          <a:p>
            <a:pPr algn="l"/>
            <a:r>
              <a:rPr sz="1100" b="0" i="0">
                <a:solidFill>
                  <a:srgbClr val="C89B3C"/>
                </a:solidFill>
              </a:rPr>
              <a:t>Comparison</a:t>
            </a:r>
          </a:p>
        </p:txBody>
      </p:sp>
      <p:sp>
        <p:nvSpPr>
          <p:cNvPr id="6" name="Rectangle 5"/>
          <p:cNvSpPr/>
          <p:nvPr/>
        </p:nvSpPr>
        <p:spPr>
          <a:xfrm>
            <a:off x="228600" y="1170432"/>
            <a:ext cx="3154680" cy="438912"/>
          </a:xfrm>
          <a:prstGeom prst="rect">
            <a:avLst/>
          </a:prstGeom>
          <a:solidFill>
            <a:srgbClr val="1A37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0040" y="1207008"/>
            <a:ext cx="2971800" cy="347472"/>
          </a:xfrm>
          <a:prstGeom prst="rect">
            <a:avLst/>
          </a:prstGeom>
          <a:noFill/>
        </p:spPr>
        <p:txBody>
          <a:bodyPr wrap="square" tIns="0" bIns="0" lIns="25400" rIns="2540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比較軸</a:t>
            </a:r>
          </a:p>
        </p:txBody>
      </p:sp>
      <p:sp>
        <p:nvSpPr>
          <p:cNvPr id="8" name="Rectangle 7"/>
          <p:cNvSpPr/>
          <p:nvPr/>
        </p:nvSpPr>
        <p:spPr>
          <a:xfrm>
            <a:off x="3520440" y="1170432"/>
            <a:ext cx="4617720" cy="438912"/>
          </a:xfrm>
          <a:prstGeom prst="rect">
            <a:avLst/>
          </a:prstGeom>
          <a:solidFill>
            <a:srgbClr val="216B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11880" y="1207008"/>
            <a:ext cx="4434840" cy="347472"/>
          </a:xfrm>
          <a:prstGeom prst="rect">
            <a:avLst/>
          </a:prstGeom>
          <a:noFill/>
        </p:spPr>
        <p:txBody>
          <a:bodyPr wrap="square" tIns="0" bIns="0" lIns="25400" rIns="2540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A  レンタルスペース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75320" y="1170432"/>
            <a:ext cx="3703320" cy="438912"/>
          </a:xfrm>
          <a:prstGeom prst="rect">
            <a:avLst/>
          </a:prstGeom>
          <a:solidFill>
            <a:srgbClr val="277D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66760" y="1207008"/>
            <a:ext cx="3520439" cy="347472"/>
          </a:xfrm>
          <a:prstGeom prst="rect">
            <a:avLst/>
          </a:prstGeom>
          <a:noFill/>
        </p:spPr>
        <p:txBody>
          <a:bodyPr wrap="square" tIns="0" bIns="0" lIns="25400" rIns="2540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B  ホテル宴会場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28600" y="1609344"/>
            <a:ext cx="11475720" cy="4937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0040" y="1682496"/>
            <a:ext cx="2971800" cy="402336"/>
          </a:xfrm>
          <a:prstGeom prst="rect">
            <a:avLst/>
          </a:prstGeom>
          <a:noFill/>
        </p:spPr>
        <p:txBody>
          <a:bodyPr wrap="square" tIns="0" bIns="0" lIns="25400" rIns="25400">
            <a:spAutoFit/>
          </a:bodyPr>
          <a:lstStyle/>
          <a:p>
            <a:pPr algn="l"/>
            <a:r>
              <a:rPr sz="1100" b="1" i="0">
                <a:solidFill>
                  <a:srgbClr val="1A375E"/>
                </a:solidFill>
              </a:rPr>
              <a:t>費用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11880" y="1682496"/>
            <a:ext cx="4434840" cy="402336"/>
          </a:xfrm>
          <a:prstGeom prst="rect">
            <a:avLst/>
          </a:prstGeom>
          <a:noFill/>
        </p:spPr>
        <p:txBody>
          <a:bodyPr wrap="square" tIns="0" bIns="0" lIns="25400" rIns="25400">
            <a:spAutoFit/>
          </a:bodyPr>
          <a:lstStyle/>
          <a:p>
            <a:pPr algn="ctr"/>
            <a:r>
              <a:rPr sz="1100" b="0" i="0">
                <a:solidFill>
                  <a:srgbClr val="277D52"/>
                </a:solidFill>
              </a:rPr>
              <a:t>◎ 安い（1人 6,800〜8,000円）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66760" y="1682496"/>
            <a:ext cx="3520439" cy="402336"/>
          </a:xfrm>
          <a:prstGeom prst="rect">
            <a:avLst/>
          </a:prstGeom>
          <a:noFill/>
        </p:spPr>
        <p:txBody>
          <a:bodyPr wrap="square" tIns="0" bIns="0" lIns="25400" rIns="25400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</a:rPr>
              <a:t>△ やや高い（1人 3,000〜8,000円）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28600" y="2103120"/>
            <a:ext cx="11475720" cy="493776"/>
          </a:xfrm>
          <a:prstGeom prst="rect">
            <a:avLst/>
          </a:prstGeom>
          <a:solidFill>
            <a:srgbClr val="EBEF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0040" y="2176272"/>
            <a:ext cx="2971800" cy="402336"/>
          </a:xfrm>
          <a:prstGeom prst="rect">
            <a:avLst/>
          </a:prstGeom>
          <a:noFill/>
        </p:spPr>
        <p:txBody>
          <a:bodyPr wrap="square" tIns="0" bIns="0" lIns="25400" rIns="25400">
            <a:spAutoFit/>
          </a:bodyPr>
          <a:lstStyle/>
          <a:p>
            <a:pPr algn="l"/>
            <a:r>
              <a:rPr sz="1100" b="1" i="0">
                <a:solidFill>
                  <a:srgbClr val="1A375E"/>
                </a:solidFill>
              </a:rPr>
              <a:t>準備・片付け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11880" y="2176272"/>
            <a:ext cx="4434840" cy="402336"/>
          </a:xfrm>
          <a:prstGeom prst="rect">
            <a:avLst/>
          </a:prstGeom>
          <a:noFill/>
        </p:spPr>
        <p:txBody>
          <a:bodyPr wrap="square" tIns="0" bIns="0" lIns="25400" rIns="25400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</a:rPr>
              <a:t>△ 自分たちで対応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2176272"/>
            <a:ext cx="3520439" cy="402336"/>
          </a:xfrm>
          <a:prstGeom prst="rect">
            <a:avLst/>
          </a:prstGeom>
          <a:noFill/>
        </p:spPr>
        <p:txBody>
          <a:bodyPr wrap="square" tIns="0" bIns="0" lIns="25400" rIns="25400">
            <a:spAutoFit/>
          </a:bodyPr>
          <a:lstStyle/>
          <a:p>
            <a:pPr algn="ctr"/>
            <a:r>
              <a:rPr sz="1100" b="0" i="0">
                <a:solidFill>
                  <a:srgbClr val="277D52"/>
                </a:solidFill>
              </a:rPr>
              <a:t>◎ ほぼ不要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28600" y="2596896"/>
            <a:ext cx="11475720" cy="4937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20040" y="2670048"/>
            <a:ext cx="2971800" cy="402336"/>
          </a:xfrm>
          <a:prstGeom prst="rect">
            <a:avLst/>
          </a:prstGeom>
          <a:noFill/>
        </p:spPr>
        <p:txBody>
          <a:bodyPr wrap="square" tIns="0" bIns="0" lIns="25400" rIns="25400">
            <a:spAutoFit/>
          </a:bodyPr>
          <a:lstStyle/>
          <a:p>
            <a:pPr algn="l"/>
            <a:r>
              <a:rPr sz="1100" b="1" i="0">
                <a:solidFill>
                  <a:srgbClr val="1A375E"/>
                </a:solidFill>
              </a:rPr>
              <a:t>カラオケ・遊び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11880" y="2670048"/>
            <a:ext cx="4434840" cy="402336"/>
          </a:xfrm>
          <a:prstGeom prst="rect">
            <a:avLst/>
          </a:prstGeom>
          <a:noFill/>
        </p:spPr>
        <p:txBody>
          <a:bodyPr wrap="square" tIns="0" bIns="0" lIns="25400" rIns="25400">
            <a:spAutoFit/>
          </a:bodyPr>
          <a:lstStyle/>
          <a:p>
            <a:pPr algn="ctr"/>
            <a:r>
              <a:rPr sz="1100" b="0" i="0">
                <a:solidFill>
                  <a:srgbClr val="277D52"/>
                </a:solidFill>
              </a:rPr>
              <a:t>◎ A-1なら同室で可能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66760" y="2670048"/>
            <a:ext cx="3520439" cy="402336"/>
          </a:xfrm>
          <a:prstGeom prst="rect">
            <a:avLst/>
          </a:prstGeom>
          <a:noFill/>
        </p:spPr>
        <p:txBody>
          <a:bodyPr wrap="square" tIns="0" bIns="0" lIns="25400" rIns="25400">
            <a:spAutoFit/>
          </a:bodyPr>
          <a:lstStyle/>
          <a:p>
            <a:pPr algn="ctr"/>
            <a:r>
              <a:rPr sz="1100" b="0" i="0">
                <a:solidFill>
                  <a:srgbClr val="C0392B"/>
                </a:solidFill>
              </a:rPr>
              <a:t>✕ 別途移動が必要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28600" y="3090672"/>
            <a:ext cx="11475720" cy="493776"/>
          </a:xfrm>
          <a:prstGeom prst="rect">
            <a:avLst/>
          </a:prstGeom>
          <a:solidFill>
            <a:srgbClr val="EBEF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20040" y="3163824"/>
            <a:ext cx="2971800" cy="402336"/>
          </a:xfrm>
          <a:prstGeom prst="rect">
            <a:avLst/>
          </a:prstGeom>
          <a:noFill/>
        </p:spPr>
        <p:txBody>
          <a:bodyPr wrap="square" tIns="0" bIns="0" lIns="25400" rIns="25400">
            <a:spAutoFit/>
          </a:bodyPr>
          <a:lstStyle/>
          <a:p>
            <a:pPr algn="l"/>
            <a:r>
              <a:rPr sz="1100" b="1" i="0">
                <a:solidFill>
                  <a:srgbClr val="1A375E"/>
                </a:solidFill>
              </a:rPr>
              <a:t>子供の自由度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11880" y="3163824"/>
            <a:ext cx="4434840" cy="402336"/>
          </a:xfrm>
          <a:prstGeom prst="rect">
            <a:avLst/>
          </a:prstGeom>
          <a:noFill/>
        </p:spPr>
        <p:txBody>
          <a:bodyPr wrap="square" tIns="0" bIns="0" lIns="25400" rIns="25400">
            <a:spAutoFit/>
          </a:bodyPr>
          <a:lstStyle/>
          <a:p>
            <a:pPr algn="ctr"/>
            <a:r>
              <a:rPr sz="1100" b="0" i="0">
                <a:solidFill>
                  <a:srgbClr val="277D52"/>
                </a:solidFill>
              </a:rPr>
              <a:t>◎ 騒いでもOK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66760" y="3163824"/>
            <a:ext cx="3520439" cy="402336"/>
          </a:xfrm>
          <a:prstGeom prst="rect">
            <a:avLst/>
          </a:prstGeom>
          <a:noFill/>
        </p:spPr>
        <p:txBody>
          <a:bodyPr wrap="square" tIns="0" bIns="0" lIns="25400" rIns="25400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</a:rPr>
              <a:t>△ 場所による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28600" y="3584448"/>
            <a:ext cx="11475720" cy="4937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20040" y="3657600"/>
            <a:ext cx="2971800" cy="402336"/>
          </a:xfrm>
          <a:prstGeom prst="rect">
            <a:avLst/>
          </a:prstGeom>
          <a:noFill/>
        </p:spPr>
        <p:txBody>
          <a:bodyPr wrap="square" tIns="0" bIns="0" lIns="25400" rIns="25400">
            <a:spAutoFit/>
          </a:bodyPr>
          <a:lstStyle/>
          <a:p>
            <a:pPr algn="l"/>
            <a:r>
              <a:rPr sz="1100" b="1" i="0">
                <a:solidFill>
                  <a:srgbClr val="1A375E"/>
                </a:solidFill>
              </a:rPr>
              <a:t>長居（5時間+）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11880" y="3657600"/>
            <a:ext cx="4434840" cy="402336"/>
          </a:xfrm>
          <a:prstGeom prst="rect">
            <a:avLst/>
          </a:prstGeom>
          <a:noFill/>
        </p:spPr>
        <p:txBody>
          <a:bodyPr wrap="square" tIns="0" bIns="0" lIns="25400" rIns="25400">
            <a:spAutoFit/>
          </a:bodyPr>
          <a:lstStyle/>
          <a:p>
            <a:pPr algn="ctr"/>
            <a:r>
              <a:rPr sz="1100" b="0" i="0">
                <a:solidFill>
                  <a:srgbClr val="277D52"/>
                </a:solidFill>
              </a:rPr>
              <a:t>◎ 時間制限なし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66760" y="3657600"/>
            <a:ext cx="3520439" cy="402336"/>
          </a:xfrm>
          <a:prstGeom prst="rect">
            <a:avLst/>
          </a:prstGeom>
          <a:noFill/>
        </p:spPr>
        <p:txBody>
          <a:bodyPr wrap="square" tIns="0" bIns="0" lIns="25400" rIns="25400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</a:rPr>
              <a:t>△ 2〜3時間が目安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28600" y="4078224"/>
            <a:ext cx="11475720" cy="493776"/>
          </a:xfrm>
          <a:prstGeom prst="rect">
            <a:avLst/>
          </a:prstGeom>
          <a:solidFill>
            <a:srgbClr val="EBEF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20040" y="4151376"/>
            <a:ext cx="2971800" cy="402336"/>
          </a:xfrm>
          <a:prstGeom prst="rect">
            <a:avLst/>
          </a:prstGeom>
          <a:noFill/>
        </p:spPr>
        <p:txBody>
          <a:bodyPr wrap="square" tIns="0" bIns="0" lIns="25400" rIns="25400">
            <a:spAutoFit/>
          </a:bodyPr>
          <a:lstStyle/>
          <a:p>
            <a:pPr algn="l"/>
            <a:r>
              <a:rPr sz="1100" b="1" i="0">
                <a:solidFill>
                  <a:srgbClr val="1A375E"/>
                </a:solidFill>
              </a:rPr>
              <a:t>料理の質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611880" y="4151376"/>
            <a:ext cx="4434840" cy="402336"/>
          </a:xfrm>
          <a:prstGeom prst="rect">
            <a:avLst/>
          </a:prstGeom>
          <a:noFill/>
        </p:spPr>
        <p:txBody>
          <a:bodyPr wrap="square" tIns="0" bIns="0" lIns="25400" rIns="25400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</a:rPr>
              <a:t>△ テイクアウト依存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66760" y="4151376"/>
            <a:ext cx="3520439" cy="402336"/>
          </a:xfrm>
          <a:prstGeom prst="rect">
            <a:avLst/>
          </a:prstGeom>
          <a:noFill/>
        </p:spPr>
        <p:txBody>
          <a:bodyPr wrap="square" tIns="0" bIns="0" lIns="25400" rIns="25400">
            <a:spAutoFit/>
          </a:bodyPr>
          <a:lstStyle/>
          <a:p>
            <a:pPr algn="ctr"/>
            <a:r>
              <a:rPr sz="1100" b="0" i="0">
                <a:solidFill>
                  <a:srgbClr val="277D52"/>
                </a:solidFill>
              </a:rPr>
              <a:t>◎ ホテル料理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28600" y="4572000"/>
            <a:ext cx="11475720" cy="4937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20040" y="4645152"/>
            <a:ext cx="2971800" cy="402336"/>
          </a:xfrm>
          <a:prstGeom prst="rect">
            <a:avLst/>
          </a:prstGeom>
          <a:noFill/>
        </p:spPr>
        <p:txBody>
          <a:bodyPr wrap="square" tIns="0" bIns="0" lIns="25400" rIns="25400">
            <a:spAutoFit/>
          </a:bodyPr>
          <a:lstStyle/>
          <a:p>
            <a:pPr algn="l"/>
            <a:r>
              <a:rPr sz="1100" b="1" i="0">
                <a:solidFill>
                  <a:srgbClr val="1A375E"/>
                </a:solidFill>
              </a:rPr>
              <a:t>特別感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611880" y="4645152"/>
            <a:ext cx="4434840" cy="402336"/>
          </a:xfrm>
          <a:prstGeom prst="rect">
            <a:avLst/>
          </a:prstGeom>
          <a:noFill/>
        </p:spPr>
        <p:txBody>
          <a:bodyPr wrap="square" tIns="0" bIns="0" lIns="25400" rIns="25400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</a:rPr>
              <a:t>○ 自分たちらしい場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366760" y="4645152"/>
            <a:ext cx="3520439" cy="402336"/>
          </a:xfrm>
          <a:prstGeom prst="rect">
            <a:avLst/>
          </a:prstGeom>
          <a:noFill/>
        </p:spPr>
        <p:txBody>
          <a:bodyPr wrap="square" tIns="0" bIns="0" lIns="25400" rIns="25400">
            <a:spAutoFit/>
          </a:bodyPr>
          <a:lstStyle/>
          <a:p>
            <a:pPr algn="ctr"/>
            <a:r>
              <a:rPr sz="1100" b="0" i="0">
                <a:solidFill>
                  <a:srgbClr val="277D52"/>
                </a:solidFill>
              </a:rPr>
              <a:t>◎ 正月らしい格式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28600" y="5065776"/>
            <a:ext cx="11475720" cy="493776"/>
          </a:xfrm>
          <a:prstGeom prst="rect">
            <a:avLst/>
          </a:prstGeom>
          <a:solidFill>
            <a:srgbClr val="EBEF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20040" y="5138928"/>
            <a:ext cx="2971800" cy="402336"/>
          </a:xfrm>
          <a:prstGeom prst="rect">
            <a:avLst/>
          </a:prstGeom>
          <a:noFill/>
        </p:spPr>
        <p:txBody>
          <a:bodyPr wrap="square" tIns="0" bIns="0" lIns="25400" rIns="25400">
            <a:spAutoFit/>
          </a:bodyPr>
          <a:lstStyle/>
          <a:p>
            <a:pPr algn="l"/>
            <a:r>
              <a:rPr sz="1100" b="1" i="0">
                <a:solidFill>
                  <a:srgbClr val="1A375E"/>
                </a:solidFill>
              </a:rPr>
              <a:t>予約しやすさ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611880" y="5138928"/>
            <a:ext cx="4434840" cy="402336"/>
          </a:xfrm>
          <a:prstGeom prst="rect">
            <a:avLst/>
          </a:prstGeom>
          <a:noFill/>
        </p:spPr>
        <p:txBody>
          <a:bodyPr wrap="square" tIns="0" bIns="0" lIns="25400" rIns="25400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</a:rPr>
              <a:t>○ オンライン即予約可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366760" y="5138928"/>
            <a:ext cx="3520439" cy="402336"/>
          </a:xfrm>
          <a:prstGeom prst="rect">
            <a:avLst/>
          </a:prstGeom>
          <a:noFill/>
        </p:spPr>
        <p:txBody>
          <a:bodyPr wrap="square" tIns="0" bIns="0" lIns="25400" rIns="25400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</a:rPr>
              <a:t>△ 電話 &amp; 早期確認が必要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28600" y="5632704"/>
            <a:ext cx="11932920" cy="512064"/>
          </a:xfrm>
          <a:prstGeom prst="rect">
            <a:avLst/>
          </a:prstGeom>
          <a:solidFill>
            <a:srgbClr val="1A37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65760" y="5650992"/>
            <a:ext cx="5852160" cy="438912"/>
          </a:xfrm>
          <a:prstGeom prst="rect">
            <a:avLst/>
          </a:prstGeom>
          <a:noFill/>
        </p:spPr>
        <p:txBody>
          <a:bodyPr wrap="square" tIns="0" bIns="0" lIns="25400" rIns="25400">
            <a:spAutoFit/>
          </a:bodyPr>
          <a:lstStyle/>
          <a:p>
            <a:pPr algn="l"/>
            <a:r>
              <a:rPr sz="1100" b="1" i="0">
                <a:solidFill>
                  <a:srgbClr val="C89B3C"/>
                </a:solidFill>
              </a:rPr>
              <a:t>コスト・自由度を重視 →  プランA（A-1 ジャンカラ キャンプルーム）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309360" y="5650992"/>
            <a:ext cx="5760720" cy="438912"/>
          </a:xfrm>
          <a:prstGeom prst="rect">
            <a:avLst/>
          </a:prstGeom>
          <a:noFill/>
        </p:spPr>
        <p:txBody>
          <a:bodyPr wrap="square" tIns="0" bIns="0" lIns="25400" rIns="25400">
            <a:spAutoFit/>
          </a:bodyPr>
          <a:lstStyle/>
          <a:p>
            <a:pPr algn="l"/>
            <a:r>
              <a:rPr sz="1100" b="1" i="0">
                <a:solidFill>
                  <a:srgbClr val="90D4B0"/>
                </a:solidFill>
              </a:rPr>
              <a:t>手間なし・特別感を重視 →  プランB（加古川プラザホテル）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A37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88952" cy="64008"/>
          </a:xfrm>
          <a:prstGeom prst="rect">
            <a:avLst/>
          </a:prstGeom>
          <a:solidFill>
            <a:srgbClr val="C89B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91440"/>
            <a:ext cx="11430000" cy="566928"/>
          </a:xfrm>
          <a:prstGeom prst="rect">
            <a:avLst/>
          </a:prstGeom>
          <a:noFill/>
        </p:spPr>
        <p:txBody>
          <a:bodyPr wrap="square" tIns="0" bIns="0" lIns="25400" rIns="25400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今すぐやること　Next Actions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21792"/>
            <a:ext cx="11430000" cy="329184"/>
          </a:xfrm>
          <a:prstGeom prst="rect">
            <a:avLst/>
          </a:prstGeom>
          <a:noFill/>
        </p:spPr>
        <p:txBody>
          <a:bodyPr wrap="square" tIns="0" bIns="0" lIns="25400" rIns="25400">
            <a:spAutoFit/>
          </a:bodyPr>
          <a:lstStyle/>
          <a:p>
            <a:pPr algn="l"/>
            <a:r>
              <a:rPr sz="1100" b="0" i="0">
                <a:solidFill>
                  <a:srgbClr val="C89B3C"/>
                </a:solidFill>
              </a:rPr>
              <a:t>Action Plan</a:t>
            </a:r>
          </a:p>
        </p:txBody>
      </p:sp>
      <p:sp>
        <p:nvSpPr>
          <p:cNvPr id="6" name="Rectangle 5"/>
          <p:cNvSpPr/>
          <p:nvPr/>
        </p:nvSpPr>
        <p:spPr>
          <a:xfrm>
            <a:off x="228600" y="1170432"/>
            <a:ext cx="5623560" cy="1554480"/>
          </a:xfrm>
          <a:prstGeom prst="rect">
            <a:avLst/>
          </a:prstGeom>
          <a:solidFill>
            <a:srgbClr val="FFFFFF"/>
          </a:solidFill>
          <a:ln w="25400">
            <a:solidFill>
              <a:srgbClr val="C89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28600" y="1170432"/>
            <a:ext cx="438912" cy="438912"/>
          </a:xfrm>
          <a:prstGeom prst="rect">
            <a:avLst/>
          </a:prstGeom>
          <a:solidFill>
            <a:srgbClr val="1A37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28600" y="1225296"/>
            <a:ext cx="438912" cy="329184"/>
          </a:xfrm>
          <a:prstGeom prst="rect">
            <a:avLst/>
          </a:prstGeom>
          <a:noFill/>
        </p:spPr>
        <p:txBody>
          <a:bodyPr wrap="square" tIns="0" bIns="0" lIns="25400" rIns="25400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01</a:t>
            </a:r>
          </a:p>
        </p:txBody>
      </p:sp>
      <p:sp>
        <p:nvSpPr>
          <p:cNvPr id="9" name="Rectangle 8"/>
          <p:cNvSpPr/>
          <p:nvPr/>
        </p:nvSpPr>
        <p:spPr>
          <a:xfrm>
            <a:off x="4681728" y="1261872"/>
            <a:ext cx="1097280" cy="256032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900" b="1">
                <a:solidFill>
                  <a:srgbClr val="FFFFFF"/>
                </a:solidFill>
              </a:rPr>
              <a:t>今週中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1234440"/>
            <a:ext cx="3931920" cy="347472"/>
          </a:xfrm>
          <a:prstGeom prst="rect">
            <a:avLst/>
          </a:prstGeom>
          <a:noFill/>
        </p:spPr>
        <p:txBody>
          <a:bodyPr wrap="square" tIns="0" bIns="0" lIns="25400" rIns="25400">
            <a:spAutoFit/>
          </a:bodyPr>
          <a:lstStyle/>
          <a:p>
            <a:pPr algn="l"/>
            <a:r>
              <a:rPr sz="1200" b="1" i="0">
                <a:solidFill>
                  <a:srgbClr val="1A375E"/>
                </a:solidFill>
              </a:rPr>
              <a:t>加古川プラザホテルへ電話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8328" y="1645920"/>
            <a:ext cx="5404104" cy="822960"/>
          </a:xfrm>
          <a:prstGeom prst="rect">
            <a:avLst/>
          </a:prstGeom>
          <a:noFill/>
        </p:spPr>
        <p:txBody>
          <a:bodyPr wrap="square" tIns="0" bIns="0" lIns="25400" rIns="25400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TEL: 079-421-6012（受付 10:00〜17:00）
1月3日・14名・小宴会場の空きと料金プランを確認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989320" y="1170432"/>
            <a:ext cx="5623560" cy="1554480"/>
          </a:xfrm>
          <a:prstGeom prst="rect">
            <a:avLst/>
          </a:prstGeom>
          <a:solidFill>
            <a:srgbClr val="FFFFFF"/>
          </a:solidFill>
          <a:ln w="25400">
            <a:solidFill>
              <a:srgbClr val="C89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989320" y="1170432"/>
            <a:ext cx="438912" cy="438912"/>
          </a:xfrm>
          <a:prstGeom prst="rect">
            <a:avLst/>
          </a:prstGeom>
          <a:solidFill>
            <a:srgbClr val="1A37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89320" y="1225296"/>
            <a:ext cx="438912" cy="329184"/>
          </a:xfrm>
          <a:prstGeom prst="rect">
            <a:avLst/>
          </a:prstGeom>
          <a:noFill/>
        </p:spPr>
        <p:txBody>
          <a:bodyPr wrap="square" tIns="0" bIns="0" lIns="25400" rIns="25400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02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442448" y="1261872"/>
            <a:ext cx="1097280" cy="256032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900" b="1">
                <a:solidFill>
                  <a:srgbClr val="FFFFFF"/>
                </a:solidFill>
              </a:rPr>
              <a:t>今週中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1234440"/>
            <a:ext cx="3931920" cy="347472"/>
          </a:xfrm>
          <a:prstGeom prst="rect">
            <a:avLst/>
          </a:prstGeom>
          <a:noFill/>
        </p:spPr>
        <p:txBody>
          <a:bodyPr wrap="square" tIns="0" bIns="0" lIns="25400" rIns="25400">
            <a:spAutoFit/>
          </a:bodyPr>
          <a:lstStyle/>
          <a:p>
            <a:pPr algn="l"/>
            <a:r>
              <a:rPr sz="1200" b="1" i="0">
                <a:solidFill>
                  <a:srgbClr val="1A375E"/>
                </a:solidFill>
              </a:rPr>
              <a:t>ジャンカラ キャンプルーム 空き確認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99048" y="1645920"/>
            <a:ext cx="5404104" cy="822960"/>
          </a:xfrm>
          <a:prstGeom prst="rect">
            <a:avLst/>
          </a:prstGeom>
          <a:noFill/>
        </p:spPr>
        <p:txBody>
          <a:bodyPr wrap="square" tIns="0" bIns="0" lIns="25400" rIns="25400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インスタベースで「加古川 キャンプルーム」を検索
1月3日の空き状況・料金・予約方法を確認する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28600" y="2834640"/>
            <a:ext cx="562356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28600" y="2834640"/>
            <a:ext cx="438912" cy="438912"/>
          </a:xfrm>
          <a:prstGeom prst="rect">
            <a:avLst/>
          </a:prstGeom>
          <a:solidFill>
            <a:srgbClr val="1A37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28600" y="2889504"/>
            <a:ext cx="438912" cy="329184"/>
          </a:xfrm>
          <a:prstGeom prst="rect">
            <a:avLst/>
          </a:prstGeom>
          <a:noFill/>
        </p:spPr>
        <p:txBody>
          <a:bodyPr wrap="square" tIns="0" bIns="0" lIns="25400" rIns="25400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03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681728" y="2926080"/>
            <a:ext cx="1097280" cy="256032"/>
          </a:xfrm>
          <a:prstGeom prst="rect">
            <a:avLst/>
          </a:prstGeom>
          <a:solidFill>
            <a:srgbClr val="216B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900" b="1">
                <a:solidFill>
                  <a:srgbClr val="FFFFFF"/>
                </a:solidFill>
              </a:rPr>
              <a:t>今月中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2898648"/>
            <a:ext cx="3931920" cy="347472"/>
          </a:xfrm>
          <a:prstGeom prst="rect">
            <a:avLst/>
          </a:prstGeom>
          <a:noFill/>
        </p:spPr>
        <p:txBody>
          <a:bodyPr wrap="square" tIns="0" bIns="0" lIns="25400" rIns="25400">
            <a:spAutoFit/>
          </a:bodyPr>
          <a:lstStyle/>
          <a:p>
            <a:pPr algn="l"/>
            <a:r>
              <a:rPr sz="1200" b="1" i="0">
                <a:solidFill>
                  <a:srgbClr val="1A375E"/>
                </a:solidFill>
              </a:rPr>
              <a:t>プランを1本に絞って即予約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8" y="3310128"/>
            <a:ext cx="5404104" cy="822960"/>
          </a:xfrm>
          <a:prstGeom prst="rect">
            <a:avLst/>
          </a:prstGeom>
          <a:noFill/>
        </p:spPr>
        <p:txBody>
          <a:bodyPr wrap="square" tIns="0" bIns="0" lIns="25400" rIns="25400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AまたはBどちらかに決定し即予約
正月3日は人気日・早い者勝ち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89320" y="2834640"/>
            <a:ext cx="562356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989320" y="2834640"/>
            <a:ext cx="438912" cy="438912"/>
          </a:xfrm>
          <a:prstGeom prst="rect">
            <a:avLst/>
          </a:prstGeom>
          <a:solidFill>
            <a:srgbClr val="1A37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989320" y="2889504"/>
            <a:ext cx="438912" cy="329184"/>
          </a:xfrm>
          <a:prstGeom prst="rect">
            <a:avLst/>
          </a:prstGeom>
          <a:noFill/>
        </p:spPr>
        <p:txBody>
          <a:bodyPr wrap="square" tIns="0" bIns="0" lIns="25400" rIns="25400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04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0442448" y="2926080"/>
            <a:ext cx="1097280" cy="256032"/>
          </a:xfrm>
          <a:prstGeom prst="rect">
            <a:avLst/>
          </a:prstGeom>
          <a:solidFill>
            <a:srgbClr val="216B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900" b="1">
                <a:solidFill>
                  <a:srgbClr val="FFFFFF"/>
                </a:solidFill>
              </a:rPr>
              <a:t>今月中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92240" y="2898648"/>
            <a:ext cx="3931920" cy="347472"/>
          </a:xfrm>
          <a:prstGeom prst="rect">
            <a:avLst/>
          </a:prstGeom>
          <a:noFill/>
        </p:spPr>
        <p:txBody>
          <a:bodyPr wrap="square" tIns="0" bIns="0" lIns="25400" rIns="25400">
            <a:spAutoFit/>
          </a:bodyPr>
          <a:lstStyle/>
          <a:p>
            <a:pPr algn="l"/>
            <a:r>
              <a:rPr sz="1200" b="1" i="0">
                <a:solidFill>
                  <a:srgbClr val="1A375E"/>
                </a:solidFill>
              </a:rPr>
              <a:t>親族へ日程案内・出欠確認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99048" y="3310128"/>
            <a:ext cx="5404104" cy="822960"/>
          </a:xfrm>
          <a:prstGeom prst="rect">
            <a:avLst/>
          </a:prstGeom>
          <a:noFill/>
        </p:spPr>
        <p:txBody>
          <a:bodyPr wrap="square" tIns="0" bIns="0" lIns="25400" rIns="25400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LINEグループ等で確定人数を確認
子供の年齢・食べ物の好みも把握しておく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282696" y="4498848"/>
            <a:ext cx="562356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282696" y="4498848"/>
            <a:ext cx="438912" cy="438912"/>
          </a:xfrm>
          <a:prstGeom prst="rect">
            <a:avLst/>
          </a:prstGeom>
          <a:solidFill>
            <a:srgbClr val="1A37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282696" y="4553712"/>
            <a:ext cx="438912" cy="329184"/>
          </a:xfrm>
          <a:prstGeom prst="rect">
            <a:avLst/>
          </a:prstGeom>
          <a:noFill/>
        </p:spPr>
        <p:txBody>
          <a:bodyPr wrap="square" tIns="0" bIns="0" lIns="25400" rIns="25400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05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735824" y="4590288"/>
            <a:ext cx="1097280" cy="256032"/>
          </a:xfrm>
          <a:prstGeom prst="rect">
            <a:avLst/>
          </a:prstGeom>
          <a:solidFill>
            <a:srgbClr val="216B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900" b="1">
                <a:solidFill>
                  <a:srgbClr val="FFFFFF"/>
                </a:solidFill>
              </a:rPr>
              <a:t>11〜12月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785615" y="4562856"/>
            <a:ext cx="3931920" cy="347472"/>
          </a:xfrm>
          <a:prstGeom prst="rect">
            <a:avLst/>
          </a:prstGeom>
          <a:noFill/>
        </p:spPr>
        <p:txBody>
          <a:bodyPr wrap="square" tIns="0" bIns="0" lIns="25400" rIns="25400">
            <a:spAutoFit/>
          </a:bodyPr>
          <a:lstStyle/>
          <a:p>
            <a:pPr algn="l"/>
            <a:r>
              <a:rPr sz="1200" b="1" i="0">
                <a:solidFill>
                  <a:srgbClr val="1A375E"/>
                </a:solidFill>
              </a:rPr>
              <a:t>食事の手配（プランA の場合）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392424" y="4974336"/>
            <a:ext cx="5404104" cy="822960"/>
          </a:xfrm>
          <a:prstGeom prst="rect">
            <a:avLst/>
          </a:prstGeom>
          <a:noFill/>
        </p:spPr>
        <p:txBody>
          <a:bodyPr wrap="square" tIns="0" bIns="0" lIns="25400" rIns="25400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ごんた寿し・はま寿司のテイクアウトを予約
正月テイクアウトは 11〜12月に早めに予約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28600" y="6272784"/>
            <a:ext cx="11932920" cy="420624"/>
          </a:xfrm>
          <a:prstGeom prst="rect">
            <a:avLst/>
          </a:prstGeom>
          <a:solidFill>
            <a:srgbClr val="1A37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11480" y="6327648"/>
            <a:ext cx="11750040" cy="310896"/>
          </a:xfrm>
          <a:prstGeom prst="rect">
            <a:avLst/>
          </a:prstGeom>
          <a:noFill/>
        </p:spPr>
        <p:txBody>
          <a:bodyPr wrap="square" tIns="0" bIns="0" lIns="25400" rIns="25400">
            <a:spAutoFit/>
          </a:bodyPr>
          <a:lstStyle/>
          <a:p>
            <a:pPr algn="ctr"/>
            <a:r>
              <a:rPr sz="1100" b="1" i="0">
                <a:solidFill>
                  <a:srgbClr val="C89B3C"/>
                </a:solidFill>
              </a:rPr>
              <a:t>⚠  1月3日は正月繁忙期。場所確保は今すぐ。決まったら食事手配に即移行する。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