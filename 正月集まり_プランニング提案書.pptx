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7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303520"/>
            <a:ext cx="12188952" cy="73152"/>
          </a:xfrm>
          <a:prstGeom prst="rect">
            <a:avLst/>
          </a:prstGeom>
          <a:solidFill>
            <a:srgbClr val="C89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00"/>
            <a:ext cx="12188952" cy="1371600"/>
          </a:xfrm>
          <a:prstGeom prst="rect">
            <a:avLst/>
          </a:prstGeom>
          <a:solidFill>
            <a:srgbClr val="10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28016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</a:rPr>
              <a:t>正月 親族集まり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28600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C89B3C"/>
                </a:solidFill>
              </a:rPr>
              <a:t>プランニング提案書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15468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</a:rPr>
              <a:t>2027年 1月3日（日）｜加古川・明石エリア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611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AACCEE"/>
                </a:solidFill>
              </a:rPr>
              <a:t>大人 10名 ＋ 子供 4名　計 14名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30936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C757D"/>
                </a:solidFill>
              </a:rPr>
              <a:t>Confidential – Family Planning Document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C89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基本条件・前提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2179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9B3C"/>
                </a:solidFill>
              </a:rPr>
              <a:t>Planning Conditions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371600"/>
            <a:ext cx="3657600" cy="1920240"/>
          </a:xfrm>
          <a:prstGeom prst="rect">
            <a:avLst/>
          </a:prstGeom>
          <a:solidFill>
            <a:srgbClr val="FFFFFF"/>
          </a:solidFill>
          <a:ln w="19050">
            <a:solidFill>
              <a:srgbClr val="C89B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481328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75E"/>
                </a:solidFill>
              </a:rPr>
              <a:t>📅  日程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847088"/>
            <a:ext cx="3657600" cy="36576"/>
          </a:xfrm>
          <a:prstGeom prst="rect">
            <a:avLst/>
          </a:prstGeom>
          <a:solidFill>
            <a:srgbClr val="C89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965960"/>
            <a:ext cx="3383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2027年1月3日（仮）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51959" y="1371600"/>
            <a:ext cx="3657600" cy="1920240"/>
          </a:xfrm>
          <a:prstGeom prst="rect">
            <a:avLst/>
          </a:prstGeom>
          <a:solidFill>
            <a:srgbClr val="FFFFFF"/>
          </a:solidFill>
          <a:ln w="19050">
            <a:solidFill>
              <a:srgbClr val="C89B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0" y="1481328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75E"/>
                </a:solidFill>
              </a:rPr>
              <a:t>👥  人数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51959" y="1847088"/>
            <a:ext cx="3657600" cy="36576"/>
          </a:xfrm>
          <a:prstGeom prst="rect">
            <a:avLst/>
          </a:prstGeom>
          <a:solidFill>
            <a:srgbClr val="C89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0" y="1965960"/>
            <a:ext cx="3383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大人10名・子供4名
計14名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83879" y="1371600"/>
            <a:ext cx="3657600" cy="1920240"/>
          </a:xfrm>
          <a:prstGeom prst="rect">
            <a:avLst/>
          </a:prstGeom>
          <a:solidFill>
            <a:srgbClr val="FFFFFF"/>
          </a:solidFill>
          <a:ln w="19050">
            <a:solidFill>
              <a:srgbClr val="C89B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1481328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75E"/>
                </a:solidFill>
              </a:rPr>
              <a:t>📍  エリア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83879" y="1847088"/>
            <a:ext cx="3657600" cy="36576"/>
          </a:xfrm>
          <a:prstGeom prst="rect">
            <a:avLst/>
          </a:prstGeom>
          <a:solidFill>
            <a:srgbClr val="C89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1965960"/>
            <a:ext cx="3383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兵庫県
加古川・明石周辺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3657600"/>
            <a:ext cx="3657600" cy="1920240"/>
          </a:xfrm>
          <a:prstGeom prst="rect">
            <a:avLst/>
          </a:prstGeom>
          <a:solidFill>
            <a:srgbClr val="FFFFFF"/>
          </a:solidFill>
          <a:ln w="19050">
            <a:solidFill>
              <a:srgbClr val="C89B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3767328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75E"/>
                </a:solidFill>
              </a:rPr>
              <a:t>🏠  会場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4133087"/>
            <a:ext cx="3657600" cy="36576"/>
          </a:xfrm>
          <a:prstGeom prst="rect">
            <a:avLst/>
          </a:prstGeom>
          <a:solidFill>
            <a:srgbClr val="C89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4251960"/>
            <a:ext cx="3383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自前の集まれる場所なし
会場は別途確保が必要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51959" y="3657600"/>
            <a:ext cx="3657600" cy="1920240"/>
          </a:xfrm>
          <a:prstGeom prst="rect">
            <a:avLst/>
          </a:prstGeom>
          <a:solidFill>
            <a:srgbClr val="FFFFFF"/>
          </a:solidFill>
          <a:ln w="19050">
            <a:solidFill>
              <a:srgbClr val="C89B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89120" y="3767328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75E"/>
                </a:solidFill>
              </a:rPr>
              <a:t>🎵  やりたいこと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51959" y="4133087"/>
            <a:ext cx="3657600" cy="36576"/>
          </a:xfrm>
          <a:prstGeom prst="rect">
            <a:avLst/>
          </a:prstGeom>
          <a:solidFill>
            <a:srgbClr val="C89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89120" y="4251960"/>
            <a:ext cx="3383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カラオケ・トランプ等
食事だけでなく遊びも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183879" y="3657600"/>
            <a:ext cx="3657600" cy="1920240"/>
          </a:xfrm>
          <a:prstGeom prst="rect">
            <a:avLst/>
          </a:prstGeom>
          <a:solidFill>
            <a:srgbClr val="FFFFFF"/>
          </a:solidFill>
          <a:ln w="19050">
            <a:solidFill>
              <a:srgbClr val="C89B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21040" y="3767328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75E"/>
                </a:solidFill>
              </a:rPr>
              <a:t>🚶  身体条件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183879" y="4133087"/>
            <a:ext cx="3657600" cy="36576"/>
          </a:xfrm>
          <a:prstGeom prst="rect">
            <a:avLst/>
          </a:prstGeom>
          <a:solidFill>
            <a:srgbClr val="C89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21040" y="4251960"/>
            <a:ext cx="3383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足が悪いメンバーなし
移動・階段等 問題なし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C89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プランA　レンタルスペース ＋ テイクアウト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2179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9B3C"/>
                </a:solidFill>
              </a:rPr>
              <a:t>Plan A – Rental Space + Takeout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88720"/>
            <a:ext cx="3840480" cy="5303520"/>
          </a:xfrm>
          <a:prstGeom prst="rect">
            <a:avLst/>
          </a:prstGeom>
          <a:solidFill>
            <a:srgbClr val="FFFFFF"/>
          </a:solidFill>
          <a:ln w="12700">
            <a:solidFill>
              <a:srgbClr val="216B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280160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16BAE"/>
                </a:solidFill>
              </a:rPr>
              <a:t>特徴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664208"/>
            <a:ext cx="3840480" cy="36576"/>
          </a:xfrm>
          <a:prstGeom prst="rect">
            <a:avLst/>
          </a:prstGeom>
          <a:solidFill>
            <a:srgbClr val="216B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783080"/>
            <a:ext cx="3474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77D52"/>
                </a:solidFill>
              </a:rPr>
              <a:t>◎ コストが最も安い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286000"/>
            <a:ext cx="3474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77D52"/>
                </a:solidFill>
              </a:rPr>
              <a:t>◎ 時間を自由に使える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788920"/>
            <a:ext cx="3474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77D52"/>
                </a:solidFill>
              </a:rPr>
              <a:t>◎ トランプ・ゲームOK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291840"/>
            <a:ext cx="3474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77D52"/>
                </a:solidFill>
              </a:rPr>
              <a:t>◎ 子供が騒いでも大丈夫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794760"/>
            <a:ext cx="3474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77D52"/>
                </a:solidFill>
              </a:rPr>
              <a:t>◎ 持込自由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297680"/>
            <a:ext cx="3474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C757D"/>
                </a:solidFill>
              </a:rPr>
              <a:t>△ 食事・飲み物の手配が必要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800600"/>
            <a:ext cx="3474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C757D"/>
                </a:solidFill>
              </a:rPr>
              <a:t>△ 準備・片付けが発生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303520"/>
            <a:ext cx="3474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C757D"/>
                </a:solidFill>
              </a:rPr>
              <a:t>△ 正月の選択肢は限られる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43400" y="1188720"/>
            <a:ext cx="7498079" cy="1691640"/>
          </a:xfrm>
          <a:prstGeom prst="rect">
            <a:avLst/>
          </a:prstGeom>
          <a:solidFill>
            <a:srgbClr val="FFF3CD"/>
          </a:solidFill>
          <a:ln w="19050">
            <a:solidFill>
              <a:srgbClr val="C89B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607040" y="1261872"/>
            <a:ext cx="1143000" cy="256032"/>
          </a:xfrm>
          <a:prstGeom prst="rect">
            <a:avLst/>
          </a:prstGeom>
          <a:solidFill>
            <a:srgbClr val="C89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★ おすすめ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0" y="1261872"/>
            <a:ext cx="5943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75E"/>
                </a:solidFill>
              </a:rPr>
              <a:t>A-1  ジャンカラ キャンプルーム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1627632"/>
            <a:ext cx="7132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C757D"/>
                </a:solidFill>
              </a:rPr>
              <a:t>加古川駅 徒歩8分 ｜ インスタベース掲載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60" y="1901952"/>
            <a:ext cx="7132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収容: 最大 20名　　料金: 12,100円〜 / 時間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0560" y="2194560"/>
            <a:ext cx="7132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カラオケ＋ドリンクバー完備。遊びと食事が1室で完結！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43400" y="3063239"/>
            <a:ext cx="7498079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80560" y="3136391"/>
            <a:ext cx="5943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75E"/>
                </a:solidFill>
              </a:rPr>
              <a:t>A-2  レンタルスタジオ Mi Crew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0" y="3502151"/>
            <a:ext cx="7132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C757D"/>
                </a:solidFill>
              </a:rPr>
              <a:t>JR加古川駅 徒歩3分 ｜ インスタベース掲載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0560" y="3776472"/>
            <a:ext cx="7132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収容: 最大 20名　　料金: 要確認（平均 435円/人/時）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80560" y="4069079"/>
            <a:ext cx="7132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駅近で集合しやすい多目的スペース。持込自由。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343400" y="4937759"/>
            <a:ext cx="7498079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80560" y="5010912"/>
            <a:ext cx="5943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75E"/>
                </a:solidFill>
              </a:rPr>
              <a:t>A-3  明石駅前スペース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80560" y="5376671"/>
            <a:ext cx="7132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C757D"/>
                </a:solidFill>
              </a:rPr>
              <a:t>JR明石駅 徒歩5分 ｜ スペースマーケット掲載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80560" y="5650992"/>
            <a:ext cx="7132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収容: 最大 15〜20名　　料金: 1,732〜2,310円 / 時間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80560" y="5943600"/>
            <a:ext cx="7132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子連れOK。明石側に集まる人が多い場合に便利。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C89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プランA　食事手配 ＆ 費用概算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2179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9B3C"/>
                </a:solidFill>
              </a:rPr>
              <a:t>Plan A – Food &amp; Cost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88720"/>
            <a:ext cx="5577840" cy="5303520"/>
          </a:xfrm>
          <a:prstGeom prst="rect">
            <a:avLst/>
          </a:prstGeom>
          <a:solidFill>
            <a:srgbClr val="FFFFFF"/>
          </a:solidFill>
          <a:ln w="12700">
            <a:solidFill>
              <a:srgbClr val="216B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8016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16BAE"/>
                </a:solidFill>
              </a:rPr>
              <a:t>食事の手配方法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673352"/>
            <a:ext cx="5577840" cy="36576"/>
          </a:xfrm>
          <a:prstGeom prst="rect">
            <a:avLst/>
          </a:prstGeom>
          <a:solidFill>
            <a:srgbClr val="216B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" y="1828800"/>
            <a:ext cx="822960" cy="246888"/>
          </a:xfrm>
          <a:prstGeom prst="rect">
            <a:avLst/>
          </a:prstGeom>
          <a:solidFill>
            <a:srgbClr val="277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</a:rPr>
              <a:t>おすすめ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1783080"/>
            <a:ext cx="4389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77D52"/>
                </a:solidFill>
              </a:rPr>
              <a:t>テイクアウト分担方式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212848"/>
            <a:ext cx="5212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ごんた寿し（加古川）
　出前・仕出し桶 ／ 正月期間は要事前予約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898648"/>
            <a:ext cx="5212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はま寿司 テイクアウト
　桶寿司ネット予約 ／ 大量注文向き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584448"/>
            <a:ext cx="5212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善乃（加古川）
　オードブル・揚げ物・仕出し対応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4270248"/>
            <a:ext cx="822960" cy="246888"/>
          </a:xfrm>
          <a:prstGeom prst="rect">
            <a:avLst/>
          </a:prstGeom>
          <a:solidFill>
            <a:srgbClr val="C89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</a:rPr>
              <a:t>補助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4224528"/>
            <a:ext cx="4389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C757D"/>
                </a:solidFill>
              </a:rPr>
              <a:t>デリバリー（Uber Eats / 出前館）
　正月は遅延リスクあり。補填用として活用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4654296"/>
            <a:ext cx="822960" cy="246888"/>
          </a:xfrm>
          <a:prstGeom prst="rect">
            <a:avLst/>
          </a:prstGeom>
          <a:solidFill>
            <a:srgbClr val="216B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</a:rPr>
              <a:t>事前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4608576"/>
            <a:ext cx="4389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C757D"/>
                </a:solidFill>
              </a:rPr>
              <a:t>業務スーパー・コストコで前日調達
　飲み物・お菓子・紙皿等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80760" y="1188720"/>
            <a:ext cx="5760720" cy="5303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89B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63640" y="1280160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375E"/>
                </a:solidFill>
              </a:rPr>
              <a:t>費用概算（14名）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80760" y="1673352"/>
            <a:ext cx="5760720" cy="36576"/>
          </a:xfrm>
          <a:prstGeom prst="rect">
            <a:avLst/>
          </a:prstGeom>
          <a:solidFill>
            <a:srgbClr val="C89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63640" y="1874519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レンタルスペース（5〜6時間）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0" y="1874519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1A1A2E"/>
                </a:solidFill>
              </a:rPr>
              <a:t>60,000円〜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80760" y="2221991"/>
            <a:ext cx="5760720" cy="18288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63640" y="2331720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寿司テイクアウト×3〜4本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0" y="2331720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1A1A2E"/>
                </a:solidFill>
              </a:rPr>
              <a:t>25,000〜35,000円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80760" y="2679191"/>
            <a:ext cx="5760720" cy="18288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63640" y="2788920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オードブル・揚げ物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0" y="2788920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1A1A2E"/>
                </a:solidFill>
              </a:rPr>
              <a:t>10,000〜15,000円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080760" y="3136391"/>
            <a:ext cx="5760720" cy="18288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63640" y="3246120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飲み物・お菓子・消耗品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01200" y="3246120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1A1A2E"/>
                </a:solidFill>
              </a:rPr>
              <a:t>8,000〜12,000円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80760" y="3593591"/>
            <a:ext cx="5760720" cy="18288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080760" y="3794759"/>
            <a:ext cx="5760720" cy="68580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63640" y="3867911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合計（推定）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21040" y="3867911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C89B3C"/>
                </a:solidFill>
              </a:rPr>
              <a:t>95,000〜112,000円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80760" y="4617720"/>
            <a:ext cx="5760720" cy="685800"/>
          </a:xfrm>
          <a:prstGeom prst="rect">
            <a:avLst/>
          </a:prstGeom>
          <a:solidFill>
            <a:srgbClr val="F4F6FA"/>
          </a:solidFill>
          <a:ln w="12700">
            <a:solidFill>
              <a:srgbClr val="C89B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63640" y="4690872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375E"/>
                </a:solidFill>
              </a:rPr>
              <a:t>1人あたり（概算）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21040" y="4690872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277D52"/>
                </a:solidFill>
              </a:rPr>
              <a:t>約 6,800〜8,000円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63640" y="5577840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75E"/>
                </a:solidFill>
              </a:rPr>
              <a:t>当日の持ち物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63640" y="5961888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✔  紙皿・紙コップ・割り箸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63640" y="6345936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✔  ゴミ袋（大）×数枚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63640" y="6729983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✔  トランプ・UNO・ゲーム類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63640" y="7114031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✔  Bluetoothスピーカー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63640" y="7498079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✔  延長コード・ウェットティッシュ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C89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プランB　ホテル宴会場（加古川プラザホテル）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2179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9B3C"/>
                </a:solidFill>
              </a:rPr>
              <a:t>Plan B – Hotel Banquet Hall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88720"/>
            <a:ext cx="7315200" cy="3200400"/>
          </a:xfrm>
          <a:prstGeom prst="rect">
            <a:avLst/>
          </a:prstGeom>
          <a:solidFill>
            <a:srgbClr val="FFFFFF"/>
          </a:solidFill>
          <a:ln w="19050">
            <a:solidFill>
              <a:srgbClr val="1A37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98448"/>
            <a:ext cx="6949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A375E"/>
                </a:solidFill>
              </a:rPr>
              <a:t>加古川プラザホテル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783080"/>
            <a:ext cx="7315200" cy="36576"/>
          </a:xfrm>
          <a:prstGeom prst="rect">
            <a:avLst/>
          </a:prstGeom>
          <a:solidFill>
            <a:srgbClr val="C89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92024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C757D"/>
                </a:solidFill>
              </a:rPr>
              <a:t>住所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192024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加古川市加古川町溝之口800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395728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C757D"/>
                </a:solidFill>
              </a:rPr>
              <a:t>TEL（宴会）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77440" y="2395728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079-421-6012　（受付 10:00〜17:00）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871216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C757D"/>
                </a:solidFill>
              </a:rPr>
              <a:t>宴会場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77440" y="2871216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大・中・小（芙蓉の間・牡丹の間 等）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346704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C757D"/>
                </a:solidFill>
              </a:rPr>
              <a:t>雰囲気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77440" y="3346704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シャンデリアあり／フォーマル〜セミフォーマル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822191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C757D"/>
                </a:solidFill>
              </a:rPr>
              <a:t>駐車場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77440" y="3822191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あり（台数は要確認）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818120" y="1188720"/>
            <a:ext cx="41148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55279" y="1298448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75E"/>
                </a:solidFill>
              </a:rPr>
              <a:t>メリット・デメリット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818120" y="1783080"/>
            <a:ext cx="4114800" cy="36576"/>
          </a:xfrm>
          <a:prstGeom prst="rect">
            <a:avLst/>
          </a:prstGeom>
          <a:solidFill>
            <a:srgbClr val="C89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55279" y="1920240"/>
            <a:ext cx="3749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77D52"/>
                </a:solidFill>
              </a:rPr>
              <a:t>◎  準備・片付けが不要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55279" y="2395728"/>
            <a:ext cx="3749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77D52"/>
                </a:solidFill>
              </a:rPr>
              <a:t>◎  料理の質・特別感が高い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55279" y="2871216"/>
            <a:ext cx="3749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77D52"/>
                </a:solidFill>
              </a:rPr>
              <a:t>◎  正月宴会プランあり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55279" y="3346704"/>
            <a:ext cx="3749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C757D"/>
                </a:solidFill>
              </a:rPr>
              <a:t>△  カラオケは別途手配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55279" y="3822191"/>
            <a:ext cx="3749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C757D"/>
                </a:solidFill>
              </a:rPr>
              <a:t>△  時間制限あり（〜3時間）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55279" y="4297680"/>
            <a:ext cx="3749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C757D"/>
                </a:solidFill>
              </a:rPr>
              <a:t>△  費用がやや高い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4572000"/>
            <a:ext cx="1161288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89B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466344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375E"/>
                </a:solidFill>
              </a:rPr>
              <a:t>費用概算（14名）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5029200"/>
            <a:ext cx="11612880" cy="36576"/>
          </a:xfrm>
          <a:prstGeom prst="rect">
            <a:avLst/>
          </a:prstGeom>
          <a:solidFill>
            <a:srgbClr val="C89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74320" y="5065776"/>
            <a:ext cx="11612880" cy="420624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5120640"/>
            <a:ext cx="4389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プランタイプ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0" y="5120640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1名あたり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86800" y="5120640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14名合計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5504688"/>
            <a:ext cx="11612880" cy="420624"/>
          </a:xfrm>
          <a:prstGeom prst="rect">
            <a:avLst/>
          </a:prstGeom>
          <a:solidFill>
            <a:srgbClr val="FFF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5559552"/>
            <a:ext cx="4389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和食コース（料理・飲物込み）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0" y="5559552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5,000〜8,000円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86800" y="5559552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C89B3C"/>
                </a:solidFill>
              </a:rPr>
              <a:t>70,000〜112,000円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5998464"/>
            <a:ext cx="4389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バイキング形式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0" y="5998464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3,000〜5,000円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686800" y="5998464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42,000〜70,000円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6437375"/>
            <a:ext cx="4389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会場のみ（持込）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29200" y="6437375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1,000〜2,000円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686800" y="6437375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14,000〜28,000円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C89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プランA vs プランB　比較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2179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9B3C"/>
                </a:solidFill>
              </a:rPr>
              <a:t>Comparison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88720"/>
            <a:ext cx="3200400" cy="475488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243584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比較軸</a:t>
            </a:r>
          </a:p>
        </p:txBody>
      </p:sp>
      <p:sp>
        <p:nvSpPr>
          <p:cNvPr id="8" name="Rectangle 7"/>
          <p:cNvSpPr/>
          <p:nvPr/>
        </p:nvSpPr>
        <p:spPr>
          <a:xfrm>
            <a:off x="3611880" y="1188720"/>
            <a:ext cx="4206240" cy="475488"/>
          </a:xfrm>
          <a:prstGeom prst="rect">
            <a:avLst/>
          </a:prstGeom>
          <a:solidFill>
            <a:srgbClr val="216B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03320" y="1243584"/>
            <a:ext cx="402335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A レンタルスペース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55279" y="1188720"/>
            <a:ext cx="4206240" cy="475488"/>
          </a:xfrm>
          <a:prstGeom prst="rect">
            <a:avLst/>
          </a:prstGeom>
          <a:solidFill>
            <a:srgbClr val="277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19" y="1243584"/>
            <a:ext cx="402335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B ホテル宴会場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664208"/>
            <a:ext cx="1184148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1755648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375E"/>
                </a:solidFill>
              </a:rPr>
              <a:t>費用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1755648"/>
            <a:ext cx="402335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77D52"/>
                </a:solidFill>
              </a:rPr>
              <a:t>◎ 安い（1人 6,800〜8,000円）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19" y="1755648"/>
            <a:ext cx="402335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△ やや高い（1人 3,000〜8,000円）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2231136"/>
            <a:ext cx="11841480" cy="548640"/>
          </a:xfrm>
          <a:prstGeom prst="rect">
            <a:avLst/>
          </a:prstGeom>
          <a:solidFill>
            <a:srgbClr val="EBE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2322576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375E"/>
                </a:solidFill>
              </a:rPr>
              <a:t>準備・片付け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03320" y="2322576"/>
            <a:ext cx="402335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△ 自分たちで対応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19" y="2322576"/>
            <a:ext cx="402335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77D52"/>
                </a:solidFill>
              </a:rPr>
              <a:t>◎ ほぼ不要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2798064"/>
            <a:ext cx="1184148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2889504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375E"/>
                </a:solidFill>
              </a:rPr>
              <a:t>カラオケ・遊び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03320" y="2889504"/>
            <a:ext cx="402335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77D52"/>
                </a:solidFill>
              </a:rPr>
              <a:t>◎ A-1なら同室で可能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19" y="2889504"/>
            <a:ext cx="402335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0392B"/>
                </a:solidFill>
              </a:rPr>
              <a:t>✕ 別途移動が必要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3364991"/>
            <a:ext cx="11841480" cy="548640"/>
          </a:xfrm>
          <a:prstGeom prst="rect">
            <a:avLst/>
          </a:prstGeom>
          <a:solidFill>
            <a:srgbClr val="EBE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" y="3456432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375E"/>
                </a:solidFill>
              </a:rPr>
              <a:t>子供の自由度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03320" y="3456432"/>
            <a:ext cx="402335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77D52"/>
                </a:solidFill>
              </a:rPr>
              <a:t>◎ 騒いでもOK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46719" y="3456432"/>
            <a:ext cx="402335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△ 場所による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3931920"/>
            <a:ext cx="1184148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5760" y="4023359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375E"/>
                </a:solidFill>
              </a:rPr>
              <a:t>長居（5h+）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03320" y="4023359"/>
            <a:ext cx="402335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77D52"/>
                </a:solidFill>
              </a:rPr>
              <a:t>◎ 時間制限なし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46719" y="4023359"/>
            <a:ext cx="402335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△ 2〜3時間が目安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498848"/>
            <a:ext cx="11841480" cy="548640"/>
          </a:xfrm>
          <a:prstGeom prst="rect">
            <a:avLst/>
          </a:prstGeom>
          <a:solidFill>
            <a:srgbClr val="EBE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5760" y="4590288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375E"/>
                </a:solidFill>
              </a:rPr>
              <a:t>料理の質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703320" y="4590288"/>
            <a:ext cx="402335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△ テイクアウト依存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46719" y="4590288"/>
            <a:ext cx="402335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77D52"/>
                </a:solidFill>
              </a:rPr>
              <a:t>◎ ホテル料理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4320" y="5065776"/>
            <a:ext cx="1184148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65760" y="5157216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375E"/>
                </a:solidFill>
              </a:rPr>
              <a:t>特別感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703320" y="5157216"/>
            <a:ext cx="402335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○ 自分たちらしく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46719" y="5157216"/>
            <a:ext cx="402335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77D52"/>
                </a:solidFill>
              </a:rPr>
              <a:t>◎ 正月らしい格式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74320" y="5632704"/>
            <a:ext cx="11841480" cy="548640"/>
          </a:xfrm>
          <a:prstGeom prst="rect">
            <a:avLst/>
          </a:prstGeom>
          <a:solidFill>
            <a:srgbClr val="EBE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5724144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375E"/>
                </a:solidFill>
              </a:rPr>
              <a:t>予約のしやすさ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703320" y="5724144"/>
            <a:ext cx="402335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○ オンライン即予約可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046719" y="5724144"/>
            <a:ext cx="402335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△ 電話 &amp; 早期確認が必要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74320" y="6263640"/>
            <a:ext cx="11841480" cy="45720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57200" y="6291072"/>
            <a:ext cx="116128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C89B3C"/>
                </a:solidFill>
              </a:rPr>
              <a:t>コスト・自由度 重視 → プランA（A-1 ジャンカラ キャンプルーム）　　　　準備なし・特別感 重視 → プランB（加古川プラザホテル）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C89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今すぐやること　Next Actions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2179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9B3C"/>
                </a:solidFill>
              </a:rPr>
              <a:t>Action Plan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234440"/>
            <a:ext cx="5669280" cy="1737360"/>
          </a:xfrm>
          <a:prstGeom prst="rect">
            <a:avLst/>
          </a:prstGeom>
          <a:solidFill>
            <a:srgbClr val="FFFFFF"/>
          </a:solidFill>
          <a:ln w="19050">
            <a:solidFill>
              <a:srgbClr val="C89B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234440"/>
            <a:ext cx="475488" cy="475488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289304"/>
            <a:ext cx="4754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9" name="Rectangle 8"/>
          <p:cNvSpPr/>
          <p:nvPr/>
        </p:nvSpPr>
        <p:spPr>
          <a:xfrm>
            <a:off x="4617720" y="1325880"/>
            <a:ext cx="1234440" cy="2743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</a:rPr>
              <a:t>今週中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1307592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75E"/>
                </a:solidFill>
              </a:rPr>
              <a:t>加古川プラザホテルへ電話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1673352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C757D"/>
                </a:solidFill>
              </a:rPr>
              <a:t>担当: 幹事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1984248"/>
            <a:ext cx="539496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TEL: 079-421-6012（10:00〜17:00）
1月3日・14名・小宴会場の空きと料金プランを確認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3640" y="1234440"/>
            <a:ext cx="5669280" cy="1737360"/>
          </a:xfrm>
          <a:prstGeom prst="rect">
            <a:avLst/>
          </a:prstGeom>
          <a:solidFill>
            <a:srgbClr val="FFFFFF"/>
          </a:solidFill>
          <a:ln w="19050">
            <a:solidFill>
              <a:srgbClr val="C89B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63640" y="1234440"/>
            <a:ext cx="475488" cy="475488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63640" y="1289304"/>
            <a:ext cx="4754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607040" y="1325880"/>
            <a:ext cx="1234440" cy="2743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</a:rPr>
              <a:t>今週中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12279" y="1307592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75E"/>
                </a:solidFill>
              </a:rPr>
              <a:t>ジャンカラ キャンプルーム 空き確認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12279" y="1673352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C757D"/>
                </a:solidFill>
              </a:rPr>
              <a:t>担当: 幹事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79" y="1984248"/>
            <a:ext cx="539496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インスタベース（https://www.instabase.jp/space/6255281347）
にアクセスし1月3日の空き状況・料金を確認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3154680"/>
            <a:ext cx="566928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74320" y="3154680"/>
            <a:ext cx="475488" cy="475488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4320" y="3209544"/>
            <a:ext cx="4754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617720" y="3246120"/>
            <a:ext cx="1234440" cy="274320"/>
          </a:xfrm>
          <a:prstGeom prst="rect">
            <a:avLst/>
          </a:prstGeom>
          <a:solidFill>
            <a:srgbClr val="216B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</a:rPr>
              <a:t>今月中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59" y="3227832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75E"/>
                </a:solidFill>
              </a:rPr>
              <a:t>プランを1本に絞って予約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59" y="3593592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C757D"/>
                </a:solidFill>
              </a:rPr>
              <a:t>担当: 幹事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3904488"/>
            <a:ext cx="539496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AまたはBどちらかに決定し即予約
（正月3日は人気日・早い者勝ち）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63640" y="3154680"/>
            <a:ext cx="566928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63640" y="3154680"/>
            <a:ext cx="475488" cy="475488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63640" y="3209544"/>
            <a:ext cx="4754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607040" y="3246120"/>
            <a:ext cx="1234440" cy="274320"/>
          </a:xfrm>
          <a:prstGeom prst="rect">
            <a:avLst/>
          </a:prstGeom>
          <a:solidFill>
            <a:srgbClr val="216B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</a:rPr>
              <a:t>今月中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12279" y="3227832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75E"/>
                </a:solidFill>
              </a:rPr>
              <a:t>親族へ日程案内・出欠確認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12279" y="3593592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C757D"/>
                </a:solidFill>
              </a:rPr>
              <a:t>担当: 全員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55079" y="3904488"/>
            <a:ext cx="539496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確定人数を把握（子供の年齢も確認）
LINEグループ等で確認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64408" y="5074920"/>
            <a:ext cx="566928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264408" y="5074920"/>
            <a:ext cx="475488" cy="475488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264408" y="5129784"/>
            <a:ext cx="4754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607808" y="5166360"/>
            <a:ext cx="1234440" cy="274320"/>
          </a:xfrm>
          <a:prstGeom prst="rect">
            <a:avLst/>
          </a:prstGeom>
          <a:solidFill>
            <a:srgbClr val="216B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</a:rPr>
              <a:t>11〜12月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813048" y="5148072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75E"/>
                </a:solidFill>
              </a:rPr>
              <a:t>食事の手配（プランAの場合）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813048" y="5513832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C757D"/>
                </a:solidFill>
              </a:rPr>
              <a:t>担当: 幹事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355848" y="5824728"/>
            <a:ext cx="539496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ごんた寿し・はま寿司テイクアウト予約
正月テイクアウトは11月〜12月に早めに予約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74320" y="6263640"/>
            <a:ext cx="11841480" cy="438912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57200" y="6291072"/>
            <a:ext cx="11612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C89B3C"/>
                </a:solidFill>
              </a:rPr>
              <a:t>⚠  1月3日は正月繁忙期のため、場所確保は早期に。決まったらすぐ食事の手配へ進む。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